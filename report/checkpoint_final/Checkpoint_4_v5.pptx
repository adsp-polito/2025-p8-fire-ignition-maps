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embeddedFontLst>
    <p:embeddedFont>
      <p:font typeface="Inter SemiBold"/>
      <p:regular r:id="rId24"/>
      <p:bold r:id="rId25"/>
      <p:italic r:id="rId26"/>
      <p:boldItalic r:id="rId27"/>
    </p:embeddedFont>
    <p:embeddedFont>
      <p:font typeface="Inter"/>
      <p:regular r:id="rId28"/>
      <p:bold r:id="rId29"/>
      <p:italic r:id="rId30"/>
      <p:boldItalic r:id="rId31"/>
    </p:embeddedFont>
    <p:embeddedFont>
      <p:font typeface="Poppins"/>
      <p:regular r:id="rId32"/>
      <p:bold r:id="rId33"/>
      <p:italic r:id="rId34"/>
      <p:boldItalic r:id="rId35"/>
    </p:embeddedFont>
    <p:embeddedFont>
      <p:font typeface="Lato"/>
      <p:regular r:id="rId36"/>
      <p:bold r:id="rId37"/>
      <p:italic r:id="rId38"/>
      <p:boldItalic r:id="rId39"/>
    </p:embeddedFont>
    <p:embeddedFont>
      <p:font typeface="Rajdhani"/>
      <p:regular r:id="rId40"/>
      <p:bold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jdhani-regular.fntdata"/><Relationship Id="rId20" Type="http://schemas.openxmlformats.org/officeDocument/2006/relationships/slide" Target="slides/slide15.xml"/><Relationship Id="rId41" Type="http://schemas.openxmlformats.org/officeDocument/2006/relationships/font" Target="fonts/Rajdhani-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InterSemiBold-regular.fntdata"/><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SemiBold-italic.fntdata"/><Relationship Id="rId25" Type="http://schemas.openxmlformats.org/officeDocument/2006/relationships/font" Target="fonts/InterSemiBold-bold.fntdata"/><Relationship Id="rId28" Type="http://schemas.openxmlformats.org/officeDocument/2006/relationships/font" Target="fonts/Inter-regular.fntdata"/><Relationship Id="rId27" Type="http://schemas.openxmlformats.org/officeDocument/2006/relationships/font" Target="fonts/InterSemiBold-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nter-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Inter-boldItalic.fntdata"/><Relationship Id="rId30" Type="http://schemas.openxmlformats.org/officeDocument/2006/relationships/font" Target="fonts/Inter-italic.fntdata"/><Relationship Id="rId11" Type="http://schemas.openxmlformats.org/officeDocument/2006/relationships/slide" Target="slides/slide6.xml"/><Relationship Id="rId33" Type="http://schemas.openxmlformats.org/officeDocument/2006/relationships/font" Target="fonts/Poppins-bold.fntdata"/><Relationship Id="rId10" Type="http://schemas.openxmlformats.org/officeDocument/2006/relationships/slide" Target="slides/slide5.xml"/><Relationship Id="rId32" Type="http://schemas.openxmlformats.org/officeDocument/2006/relationships/font" Target="fonts/Poppins-regular.fntdata"/><Relationship Id="rId13" Type="http://schemas.openxmlformats.org/officeDocument/2006/relationships/slide" Target="slides/slide8.xml"/><Relationship Id="rId35" Type="http://schemas.openxmlformats.org/officeDocument/2006/relationships/font" Target="fonts/Poppins-boldItalic.fntdata"/><Relationship Id="rId12" Type="http://schemas.openxmlformats.org/officeDocument/2006/relationships/slide" Target="slides/slide7.xml"/><Relationship Id="rId34" Type="http://schemas.openxmlformats.org/officeDocument/2006/relationships/font" Target="fonts/Poppins-italic.fntdata"/><Relationship Id="rId15" Type="http://schemas.openxmlformats.org/officeDocument/2006/relationships/slide" Target="slides/slide10.xml"/><Relationship Id="rId37" Type="http://schemas.openxmlformats.org/officeDocument/2006/relationships/font" Target="fonts/Lato-bold.fntdata"/><Relationship Id="rId14" Type="http://schemas.openxmlformats.org/officeDocument/2006/relationships/slide" Target="slides/slide9.xml"/><Relationship Id="rId36" Type="http://schemas.openxmlformats.org/officeDocument/2006/relationships/font" Target="fonts/Lato-regular.fntdata"/><Relationship Id="rId17" Type="http://schemas.openxmlformats.org/officeDocument/2006/relationships/slide" Target="slides/slide12.xml"/><Relationship Id="rId39" Type="http://schemas.openxmlformats.org/officeDocument/2006/relationships/font" Target="fonts/Lato-boldItalic.fntdata"/><Relationship Id="rId16" Type="http://schemas.openxmlformats.org/officeDocument/2006/relationships/slide" Target="slides/slide11.xml"/><Relationship Id="rId38" Type="http://schemas.openxmlformats.org/officeDocument/2006/relationships/font" Target="fonts/La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ae858be76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ae858be7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Good morning everyone.</a:t>
            </a:r>
            <a:br>
              <a:rPr lang="en-US">
                <a:solidFill>
                  <a:schemeClr val="dk1"/>
                </a:solidFill>
              </a:rPr>
            </a:br>
            <a:r>
              <a:rPr lang="en-US">
                <a:solidFill>
                  <a:schemeClr val="dk1"/>
                </a:solidFill>
              </a:rPr>
              <a:t> My name is Parastoo Hashemi, and my teammate Yousef Fayyaz, we’re here to present the our project </a:t>
            </a:r>
            <a:br>
              <a:rPr lang="en-US">
                <a:solidFill>
                  <a:schemeClr val="dk1"/>
                </a:solidFill>
              </a:rPr>
            </a:br>
            <a:r>
              <a:rPr lang="en-US">
                <a:solidFill>
                  <a:schemeClr val="dk1"/>
                </a:solidFill>
              </a:rPr>
              <a:t>titled </a:t>
            </a:r>
            <a:r>
              <a:rPr b="1" lang="en-US">
                <a:solidFill>
                  <a:schemeClr val="dk1"/>
                </a:solidFill>
              </a:rPr>
              <a:t>“Multi-Task Learning for Fire Ignition Maps.”</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e858be767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Our project aims to predict the </a:t>
            </a:r>
            <a:r>
              <a:rPr b="1" lang="en-US">
                <a:solidFill>
                  <a:schemeClr val="dk1"/>
                </a:solidFill>
              </a:rPr>
              <a:t>final burned-area extent</a:t>
            </a:r>
            <a:r>
              <a:rPr lang="en-US">
                <a:solidFill>
                  <a:schemeClr val="dk1"/>
                </a:solidFill>
              </a:rPr>
              <a:t> </a:t>
            </a:r>
            <a:r>
              <a:rPr i="1" lang="en-US">
                <a:solidFill>
                  <a:schemeClr val="dk1"/>
                </a:solidFill>
              </a:rPr>
              <a:t>right at the moment it starts</a:t>
            </a:r>
            <a:r>
              <a:rPr lang="en-US">
                <a:solidFill>
                  <a:schemeClr val="dk1"/>
                </a:solidFill>
              </a:rPr>
              <a:t>, </a:t>
            </a:r>
            <a:r>
              <a:rPr lang="en-US">
                <a:solidFill>
                  <a:srgbClr val="FF0000"/>
                </a:solidFill>
              </a:rPr>
              <a:t>using only pre-fire environmental information.</a:t>
            </a:r>
            <a:br>
              <a:rPr lang="en-US">
                <a:solidFill>
                  <a:schemeClr val="dk1"/>
                </a:solidFill>
              </a:rPr>
            </a:br>
            <a:br>
              <a:rPr lang="en-US">
                <a:solidFill>
                  <a:schemeClr val="dk1"/>
                </a:solidFill>
              </a:rPr>
            </a:br>
            <a:r>
              <a:rPr lang="en-US">
                <a:solidFill>
                  <a:schemeClr val="dk1"/>
                </a:solidFill>
              </a:rPr>
              <a:t>Traditionally, remote sensing is reactive: it tells us what burned </a:t>
            </a:r>
            <a:r>
              <a:rPr i="1" lang="en-US">
                <a:solidFill>
                  <a:schemeClr val="dk1"/>
                </a:solidFill>
              </a:rPr>
              <a:t>after</a:t>
            </a:r>
            <a:r>
              <a:rPr lang="en-US">
                <a:solidFill>
                  <a:schemeClr val="dk1"/>
                </a:solidFill>
              </a:rPr>
              <a:t> the event.</a:t>
            </a:r>
            <a:endParaRPr>
              <a:solidFill>
                <a:schemeClr val="dk1"/>
              </a:solidFill>
            </a:endParaRPr>
          </a:p>
          <a:p>
            <a:pPr indent="0" lvl="0" marL="0" rtl="0" algn="l">
              <a:spcBef>
                <a:spcPts val="0"/>
              </a:spcBef>
              <a:spcAft>
                <a:spcPts val="0"/>
              </a:spcAft>
              <a:buNone/>
            </a:pPr>
            <a:r>
              <a:rPr lang="en-US">
                <a:solidFill>
                  <a:schemeClr val="dk1"/>
                </a:solidFill>
              </a:rPr>
              <a:t>Our goal is </a:t>
            </a:r>
            <a:r>
              <a:rPr b="1" lang="en-US">
                <a:solidFill>
                  <a:schemeClr val="dk1"/>
                </a:solidFill>
              </a:rPr>
              <a:t>proactiv</a:t>
            </a:r>
            <a:r>
              <a:rPr lang="en-US">
                <a:solidFill>
                  <a:schemeClr val="dk1"/>
                </a:solidFill>
              </a:rPr>
              <a:t>, we estimate spread immediately, when </a:t>
            </a:r>
            <a:r>
              <a:rPr b="1" lang="en-US">
                <a:solidFill>
                  <a:schemeClr val="dk1"/>
                </a:solidFill>
              </a:rPr>
              <a:t>decisions still matter.</a:t>
            </a:r>
            <a:br>
              <a:rPr b="1" lang="en-US">
                <a:solidFill>
                  <a:schemeClr val="dk1"/>
                </a:solidFill>
              </a:rPr>
            </a:br>
            <a:br>
              <a:rPr b="1" lang="en-US">
                <a:solidFill>
                  <a:schemeClr val="dk1"/>
                </a:solidFill>
              </a:rPr>
            </a:br>
            <a:r>
              <a:rPr lang="en-US">
                <a:solidFill>
                  <a:schemeClr val="dk1"/>
                </a:solidFill>
              </a:rPr>
              <a:t>Technically, the model fuses multiple pre-fire data sources and outputs a </a:t>
            </a:r>
            <a:r>
              <a:rPr b="1" lang="en-US">
                <a:solidFill>
                  <a:schemeClr val="dk1"/>
                </a:solidFill>
              </a:rPr>
              <a:t>burned-area mask</a:t>
            </a:r>
            <a:r>
              <a:rPr lang="en-US">
                <a:solidFill>
                  <a:schemeClr val="dk1"/>
                </a:solidFill>
              </a:rPr>
              <a:t>.</a:t>
            </a:r>
            <a:endParaRPr b="1">
              <a:solidFill>
                <a:schemeClr val="dk1"/>
              </a:solidFill>
            </a:endParaRPr>
          </a:p>
        </p:txBody>
      </p:sp>
      <p:sp>
        <p:nvSpPr>
          <p:cNvPr id="86" name="Google Shape;86;g3ae858be767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ee074403a_54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work is meaningful for three main reasons.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a:t>
            </a:r>
            <a:r>
              <a:rPr b="1" lang="en-US">
                <a:solidFill>
                  <a:schemeClr val="dk1"/>
                </a:solidFill>
              </a:rPr>
              <a:t>environmental impact</a:t>
            </a:r>
            <a:r>
              <a:rPr lang="en-US">
                <a:solidFill>
                  <a:schemeClr val="dk1"/>
                </a:solidFill>
              </a:rPr>
              <a:t>: earlier predictions can reduce burned area and </a:t>
            </a:r>
            <a:r>
              <a:rPr b="1" lang="en-US">
                <a:solidFill>
                  <a:schemeClr val="dk1"/>
                </a:solidFill>
              </a:rPr>
              <a:t>environmental </a:t>
            </a:r>
            <a:r>
              <a:rPr lang="en-US">
                <a:solidFill>
                  <a:schemeClr val="dk1"/>
                </a:solidFill>
              </a:rPr>
              <a:t>damage.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Second, </a:t>
            </a:r>
            <a:r>
              <a:rPr b="1" lang="en-US">
                <a:solidFill>
                  <a:schemeClr val="dk1"/>
                </a:solidFill>
              </a:rPr>
              <a:t>response efficiency</a:t>
            </a:r>
            <a:r>
              <a:rPr lang="en-US">
                <a:solidFill>
                  <a:schemeClr val="dk1"/>
                </a:solidFill>
              </a:rPr>
              <a:t>: </a:t>
            </a:r>
            <a:r>
              <a:rPr lang="en-US">
                <a:solidFill>
                  <a:schemeClr val="dk1"/>
                </a:solidFill>
              </a:rPr>
              <a:t>earlier predictions</a:t>
            </a:r>
            <a:r>
              <a:rPr lang="en-US">
                <a:solidFill>
                  <a:schemeClr val="dk1"/>
                </a:solidFill>
              </a:rPr>
              <a:t> allow civil protection agencies to posi</a:t>
            </a:r>
            <a:r>
              <a:rPr lang="en-US">
                <a:solidFill>
                  <a:schemeClr val="dk1"/>
                </a:solidFill>
              </a:rPr>
              <a:t>tion</a:t>
            </a:r>
            <a:r>
              <a:rPr lang="en-US">
                <a:solidFill>
                  <a:schemeClr val="dk1"/>
                </a:solidFill>
              </a:rPr>
              <a:t> resources </a:t>
            </a:r>
            <a:r>
              <a:rPr i="1" lang="en-US">
                <a:solidFill>
                  <a:schemeClr val="dk1"/>
                </a:solidFill>
              </a:rPr>
              <a:t>before</a:t>
            </a:r>
            <a:r>
              <a:rPr lang="en-US">
                <a:solidFill>
                  <a:schemeClr val="dk1"/>
                </a:solidFill>
              </a:rPr>
              <a:t> the event.</a:t>
            </a:r>
            <a:endParaRPr>
              <a:solidFill>
                <a:schemeClr val="dk1"/>
              </a:solidFill>
            </a:endParaRPr>
          </a:p>
          <a:p>
            <a:pPr indent="0" lvl="0" marL="0" rtl="0" algn="l">
              <a:lnSpc>
                <a:spcPct val="115000"/>
              </a:lnSpc>
              <a:spcBef>
                <a:spcPts val="1200"/>
              </a:spcBef>
              <a:spcAft>
                <a:spcPts val="1200"/>
              </a:spcAft>
              <a:buNone/>
            </a:pPr>
            <a:r>
              <a:rPr lang="en-US">
                <a:solidFill>
                  <a:schemeClr val="dk1"/>
                </a:solidFill>
              </a:rPr>
              <a:t>Third, </a:t>
            </a:r>
            <a:r>
              <a:rPr b="1" lang="en-US">
                <a:solidFill>
                  <a:schemeClr val="dk1"/>
                </a:solidFill>
              </a:rPr>
              <a:t>scalability</a:t>
            </a:r>
            <a:r>
              <a:rPr lang="en-US">
                <a:solidFill>
                  <a:schemeClr val="dk1"/>
                </a:solidFill>
              </a:rPr>
              <a:t>: because all data sources are globally available, the same framework can be transferred to other fire-prone region.</a:t>
            </a:r>
            <a:endParaRPr>
              <a:solidFill>
                <a:schemeClr val="dk1"/>
              </a:solidFill>
            </a:endParaRPr>
          </a:p>
        </p:txBody>
      </p:sp>
      <p:sp>
        <p:nvSpPr>
          <p:cNvPr id="103" name="Google Shape;103;g3aee074403a_54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ae858be767_1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t>Our research revolves around three key questions:</a:t>
            </a:r>
            <a:endParaRPr/>
          </a:p>
          <a:p>
            <a:pPr indent="-298450" lvl="0" marL="457200" rtl="0" algn="l">
              <a:lnSpc>
                <a:spcPct val="115000"/>
              </a:lnSpc>
              <a:spcBef>
                <a:spcPts val="1200"/>
              </a:spcBef>
              <a:spcAft>
                <a:spcPts val="0"/>
              </a:spcAft>
              <a:buClr>
                <a:schemeClr val="dk1"/>
              </a:buClr>
              <a:buSzPts val="1100"/>
              <a:buAutoNum type="arabicPeriod"/>
            </a:pPr>
            <a:r>
              <a:rPr lang="en-US"/>
              <a:t>Can multimodal data predict the final burned area accurately enough to support early emergency decisions?</a:t>
            </a:r>
            <a:endParaRPr/>
          </a:p>
          <a:p>
            <a:pPr indent="-298450" lvl="0" marL="457200" rtl="0" algn="l">
              <a:lnSpc>
                <a:spcPct val="115000"/>
              </a:lnSpc>
              <a:spcBef>
                <a:spcPts val="0"/>
              </a:spcBef>
              <a:spcAft>
                <a:spcPts val="0"/>
              </a:spcAft>
              <a:buClr>
                <a:schemeClr val="dk1"/>
              </a:buClr>
              <a:buSzPts val="1100"/>
              <a:buAutoNum type="arabicPeriod"/>
            </a:pPr>
            <a:r>
              <a:rPr lang="en-US">
                <a:solidFill>
                  <a:schemeClr val="dk1"/>
                </a:solidFill>
              </a:rPr>
              <a:t>does adding an </a:t>
            </a:r>
            <a:r>
              <a:rPr b="1" lang="en-US">
                <a:solidFill>
                  <a:schemeClr val="dk1"/>
                </a:solidFill>
              </a:rPr>
              <a:t>auxiliary task</a:t>
            </a:r>
            <a:r>
              <a:rPr lang="en-US">
                <a:solidFill>
                  <a:schemeClr val="dk1"/>
                </a:solidFill>
              </a:rPr>
              <a:t>, such as land-cover segmentation, improve predection?</a:t>
            </a:r>
            <a:endParaRPr/>
          </a:p>
          <a:p>
            <a:pPr indent="-298450" lvl="0" marL="457200" rtl="0" algn="l">
              <a:lnSpc>
                <a:spcPct val="115000"/>
              </a:lnSpc>
              <a:spcBef>
                <a:spcPts val="0"/>
              </a:spcBef>
              <a:spcAft>
                <a:spcPts val="0"/>
              </a:spcAft>
              <a:buClr>
                <a:schemeClr val="dk1"/>
              </a:buClr>
              <a:buSzPts val="1100"/>
              <a:buAutoNum type="arabicPeriod"/>
            </a:pPr>
            <a:r>
              <a:rPr lang="en-US"/>
              <a:t>And finally, which data modalities matter most?</a:t>
            </a:r>
            <a:endParaRPr/>
          </a:p>
        </p:txBody>
      </p:sp>
      <p:sp>
        <p:nvSpPr>
          <p:cNvPr id="121" name="Google Shape;121;g3ae858be767_1_1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c6381b83b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Our dataset consists of about 2 </a:t>
            </a:r>
            <a:r>
              <a:rPr lang="en-US">
                <a:solidFill>
                  <a:schemeClr val="dk1"/>
                </a:solidFill>
              </a:rPr>
              <a:t>Thousand</a:t>
            </a:r>
            <a:r>
              <a:rPr lang="en-US">
                <a:solidFill>
                  <a:schemeClr val="dk1"/>
                </a:solidFill>
              </a:rPr>
              <a:t> wildfire events of the Piemonte</a:t>
            </a:r>
            <a:br>
              <a:rPr lang="en-US">
                <a:solidFill>
                  <a:schemeClr val="dk1"/>
                </a:solidFill>
              </a:rPr>
            </a:br>
            <a:br>
              <a:rPr lang="en-US">
                <a:solidFill>
                  <a:schemeClr val="dk1"/>
                </a:solidFill>
              </a:rPr>
            </a:br>
            <a:r>
              <a:rPr lang="en-US">
                <a:solidFill>
                  <a:schemeClr val="dk1"/>
                </a:solidFill>
              </a:rPr>
              <a:t>Rather than listing inputs, I’ll focus on </a:t>
            </a:r>
            <a:r>
              <a:rPr b="1" lang="en-US">
                <a:solidFill>
                  <a:schemeClr val="dk1"/>
                </a:solidFill>
              </a:rPr>
              <a:t>why each modality is included</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Sentinel-2</a:t>
            </a:r>
            <a:r>
              <a:rPr lang="en-US">
                <a:solidFill>
                  <a:schemeClr val="dk1"/>
                </a:solidFill>
              </a:rPr>
              <a:t> provides high-resolution information about vegetation condition and fuel availability.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Landsat</a:t>
            </a:r>
            <a:r>
              <a:rPr lang="en-US">
                <a:solidFill>
                  <a:schemeClr val="dk1"/>
                </a:solidFill>
              </a:rPr>
              <a:t> imagery complements this information,</a:t>
            </a:r>
            <a:endParaRPr>
              <a:solidFill>
                <a:schemeClr val="dk1"/>
              </a:solidFill>
            </a:endParaRPr>
          </a:p>
          <a:p>
            <a:pPr indent="0" lvl="0" marL="0" rtl="0" algn="l">
              <a:lnSpc>
                <a:spcPct val="115000"/>
              </a:lnSpc>
              <a:spcBef>
                <a:spcPts val="1200"/>
              </a:spcBef>
              <a:spcAft>
                <a:spcPts val="1200"/>
              </a:spcAft>
              <a:buNone/>
            </a:pPr>
            <a:r>
              <a:rPr b="1" lang="en-US">
                <a:solidFill>
                  <a:schemeClr val="dk1"/>
                </a:solidFill>
              </a:rPr>
              <a:t>topography information from a DEM</a:t>
            </a:r>
            <a:r>
              <a:rPr lang="en-US">
                <a:solidFill>
                  <a:schemeClr val="dk1"/>
                </a:solidFill>
              </a:rPr>
              <a:t> </a:t>
            </a:r>
            <a:r>
              <a:rPr lang="en-US">
                <a:solidFill>
                  <a:schemeClr val="dk1"/>
                </a:solidFill>
              </a:rPr>
              <a:t>is included </a:t>
            </a:r>
            <a:r>
              <a:rPr lang="en-US">
                <a:solidFill>
                  <a:schemeClr val="dk1"/>
                </a:solidFill>
              </a:rPr>
              <a:t>because </a:t>
            </a:r>
            <a:r>
              <a:rPr lang="en-US">
                <a:solidFill>
                  <a:schemeClr val="dk1"/>
                </a:solidFill>
              </a:rPr>
              <a:t>fire behavior is influenced by slope and elevation.</a:t>
            </a:r>
            <a:br>
              <a:rPr lang="en-US">
                <a:solidFill>
                  <a:schemeClr val="dk1"/>
                </a:solidFill>
              </a:rPr>
            </a:br>
            <a:br>
              <a:rPr lang="en-US">
                <a:solidFill>
                  <a:schemeClr val="dk1"/>
                </a:solidFill>
              </a:rPr>
            </a:br>
            <a:r>
              <a:rPr b="1" lang="en-US">
                <a:solidFill>
                  <a:schemeClr val="dk1"/>
                </a:solidFill>
              </a:rPr>
              <a:t>ERA5 weather data </a:t>
            </a:r>
            <a:r>
              <a:rPr lang="en-US">
                <a:solidFill>
                  <a:schemeClr val="dk1"/>
                </a:solidFill>
              </a:rPr>
              <a:t>provides</a:t>
            </a:r>
            <a:r>
              <a:rPr lang="en-US">
                <a:solidFill>
                  <a:schemeClr val="dk1"/>
                </a:solidFill>
              </a:rPr>
              <a:t> wind conditions at ignition time, which affect the direction and speed of fire spread.</a:t>
            </a:r>
            <a:endParaRPr/>
          </a:p>
        </p:txBody>
      </p:sp>
      <p:sp>
        <p:nvSpPr>
          <p:cNvPr id="136" name="Google Shape;136;g3c6381b83bb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bfdd369ad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For ground truth, burned-area masks and ignition points.</a:t>
            </a:r>
            <a:endParaRPr>
              <a:solidFill>
                <a:schemeClr val="dk1"/>
              </a:solidFill>
            </a:endParaRPr>
          </a:p>
          <a:p>
            <a:pPr indent="0" lvl="0" marL="0" rtl="0" algn="l">
              <a:spcBef>
                <a:spcPts val="0"/>
              </a:spcBef>
              <a:spcAft>
                <a:spcPts val="0"/>
              </a:spcAft>
              <a:buNone/>
            </a:pPr>
            <a:r>
              <a:rPr lang="en-US">
                <a:solidFill>
                  <a:schemeClr val="dk1"/>
                </a:solidFill>
              </a:rPr>
              <a:t>The burned-area mask provides pixel-level supervision, while the ignition point marks where the fire starts.</a:t>
            </a:r>
            <a:br>
              <a:rPr lang="en-US">
                <a:solidFill>
                  <a:schemeClr val="dk1"/>
                </a:solidFill>
              </a:rPr>
            </a:br>
            <a:br>
              <a:rPr lang="en-US">
                <a:solidFill>
                  <a:schemeClr val="dk1"/>
                </a:solidFill>
              </a:rPr>
            </a:br>
            <a:r>
              <a:rPr lang="en-US">
                <a:solidFill>
                  <a:schemeClr val="dk1"/>
                </a:solidFill>
              </a:rPr>
              <a:t>Data also include </a:t>
            </a:r>
            <a:r>
              <a:rPr b="1" lang="en-US">
                <a:solidFill>
                  <a:schemeClr val="dk1"/>
                </a:solidFill>
              </a:rPr>
              <a:t>land-cover maps</a:t>
            </a:r>
            <a:r>
              <a:rPr lang="en-US">
                <a:solidFill>
                  <a:schemeClr val="dk1"/>
                </a:solidFill>
              </a:rPr>
              <a:t> because different vegetation types behave differently as fuel.</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Finally, </a:t>
            </a:r>
            <a:r>
              <a:rPr b="1" lang="en-US">
                <a:solidFill>
                  <a:schemeClr val="dk1"/>
                </a:solidFill>
              </a:rPr>
              <a:t>road network</a:t>
            </a:r>
            <a:r>
              <a:rPr lang="en-US">
                <a:solidFill>
                  <a:schemeClr val="dk1"/>
                </a:solidFill>
              </a:rPr>
              <a:t>. Roads are important because many fires start near human activity, and they act as barriers.</a:t>
            </a:r>
            <a:endParaRPr>
              <a:solidFill>
                <a:schemeClr val="dk1"/>
              </a:solidFill>
            </a:endParaRPr>
          </a:p>
        </p:txBody>
      </p:sp>
      <p:sp>
        <p:nvSpPr>
          <p:cNvPr id="157" name="Google Shape;157;g3bfdd369ad6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b4587417a8_0_5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b4587417a8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we formulate this task as </a:t>
            </a:r>
            <a:r>
              <a:rPr b="1" lang="en-US">
                <a:solidFill>
                  <a:schemeClr val="dk1"/>
                </a:solidFill>
              </a:rPr>
              <a:t>binary semantic segmentation</a:t>
            </a:r>
            <a:br>
              <a:rPr lang="en-US">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 input is</a:t>
            </a:r>
            <a:r>
              <a:rPr b="1" lang="en-US">
                <a:solidFill>
                  <a:schemeClr val="dk1"/>
                </a:solidFill>
              </a:rPr>
              <a:t> a multimodal data cube</a:t>
            </a:r>
            <a:r>
              <a:rPr lang="en-US">
                <a:solidFill>
                  <a:schemeClr val="dk1"/>
                </a:solidFill>
              </a:rPr>
              <a:t> , where layers are aligned into</a:t>
            </a:r>
            <a:r>
              <a:rPr b="1" lang="en-US">
                <a:solidFill>
                  <a:schemeClr val="dk1"/>
                </a:solidFill>
              </a:rPr>
              <a:t> an unified representation</a:t>
            </a:r>
            <a:r>
              <a:rPr lang="en-US">
                <a:solidFill>
                  <a:schemeClr val="dk1"/>
                </a:solidFill>
              </a:rPr>
              <a:t>.</a:t>
            </a:r>
            <a:br>
              <a:rPr lang="en-US">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the output is </a:t>
            </a:r>
            <a:r>
              <a:rPr b="1" lang="en-US">
                <a:solidFill>
                  <a:schemeClr val="dk1"/>
                </a:solidFill>
              </a:rPr>
              <a:t>a spatial masks</a:t>
            </a:r>
            <a:r>
              <a:rPr lang="en-US">
                <a:solidFill>
                  <a:schemeClr val="dk1"/>
                </a:solidFill>
              </a:rPr>
              <a:t>, each pixel is </a:t>
            </a:r>
            <a:r>
              <a:rPr b="1" lang="en-US">
                <a:solidFill>
                  <a:schemeClr val="dk1"/>
                </a:solidFill>
              </a:rPr>
              <a:t>classified </a:t>
            </a:r>
            <a:r>
              <a:rPr lang="en-US">
                <a:solidFill>
                  <a:schemeClr val="dk1"/>
                </a:solidFill>
              </a:rPr>
              <a:t>as burned or not-burned. </a:t>
            </a:r>
            <a:br>
              <a:rPr lang="en-US">
                <a:solidFill>
                  <a:schemeClr val="dk1"/>
                </a:solidFill>
              </a:rPr>
            </a:br>
            <a:br>
              <a:rPr lang="en-US">
                <a:solidFill>
                  <a:schemeClr val="dk1"/>
                </a:solidFill>
              </a:rPr>
            </a:br>
            <a:r>
              <a:rPr lang="en-US">
                <a:solidFill>
                  <a:schemeClr val="dk1"/>
                </a:solidFill>
              </a:rPr>
              <a:t>this is a geometry-aware learning problem. We care about spatial coherence , boundries and shape.</a:t>
            </a:r>
            <a:br>
              <a:rPr lang="en-US">
                <a:solidFill>
                  <a:schemeClr val="dk1"/>
                </a:solidFill>
              </a:rPr>
            </a:b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This formulation </a:t>
            </a:r>
            <a:r>
              <a:rPr b="1" lang="en-US">
                <a:solidFill>
                  <a:schemeClr val="dk1"/>
                </a:solidFill>
              </a:rPr>
              <a:t>ensures </a:t>
            </a:r>
            <a:r>
              <a:rPr lang="en-US">
                <a:solidFill>
                  <a:schemeClr val="dk1"/>
                </a:solidFill>
              </a:rPr>
              <a:t>that model outputs are usable for decision-making rather than simple event detection.</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b88de338c6_0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b88de338c6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Aim:</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To show HOW dataset statistics 📈 i</a:t>
            </a:r>
            <a:r>
              <a:rPr lang="en-US">
                <a:solidFill>
                  <a:schemeClr val="dk1"/>
                </a:solidFill>
              </a:rPr>
              <a:t>nfluenced our modeling choices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On the left: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Compare fire frequency with burned area across seasons</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Winter: </a:t>
            </a:r>
            <a:r>
              <a:rPr b="1" lang="en-US">
                <a:solidFill>
                  <a:schemeClr val="dk1"/>
                </a:solidFill>
              </a:rPr>
              <a:t>many </a:t>
            </a:r>
            <a:r>
              <a:rPr lang="en-US">
                <a:solidFill>
                  <a:schemeClr val="dk1"/>
                </a:solidFill>
              </a:rPr>
              <a:t>fires, small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Autumn: </a:t>
            </a:r>
            <a:r>
              <a:rPr b="1" lang="en-US">
                <a:solidFill>
                  <a:schemeClr val="dk1"/>
                </a:solidFill>
              </a:rPr>
              <a:t>fewer</a:t>
            </a:r>
            <a:r>
              <a:rPr lang="en-US">
                <a:solidFill>
                  <a:schemeClr val="dk1"/>
                </a:solidFill>
              </a:rPr>
              <a:t>, much large</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=&gt; frequency / severity: not aligned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On the right:</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Fire-size distribution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Follows a long-tail distribution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Most fires : small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Large fires: rare ==&gt; major of damage</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=&gt; Extreme class imbalance</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accuracy(evaluation metric): insufficient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Model can look strong by predicting background </a:t>
            </a:r>
            <a:endParaRPr>
              <a:solidFill>
                <a:schemeClr val="dk1"/>
              </a:solidFill>
            </a:endParaRPr>
          </a:p>
          <a:p>
            <a:pPr indent="0" lvl="0" marL="0" rtl="0" algn="l">
              <a:spcBef>
                <a:spcPts val="0"/>
              </a:spcBef>
              <a:spcAft>
                <a:spcPts val="0"/>
              </a:spcAft>
              <a:buClr>
                <a:schemeClr val="dk1"/>
              </a:buClr>
              <a:buSzPts val="1100"/>
              <a:buFont typeface="Arial"/>
              <a:buNone/>
            </a:pPr>
            <a:br>
              <a:rPr lang="en-US">
                <a:solidFill>
                  <a:schemeClr val="dk1"/>
                </a:solidFill>
              </a:rPr>
            </a:br>
            <a:r>
              <a:rPr lang="en-US">
                <a:solidFill>
                  <a:schemeClr val="dk1"/>
                </a:solidFill>
              </a:rPr>
              <a:t>IOU primary EM</a:t>
            </a:r>
            <a:br>
              <a:rPr lang="en-US">
                <a:solidFill>
                  <a:schemeClr val="dk1"/>
                </a:solidFill>
              </a:rPr>
            </a:br>
            <a:r>
              <a:rPr lang="en-US">
                <a:solidFill>
                  <a:schemeClr val="dk1"/>
                </a:solidFill>
              </a:rPr>
              <a:t>we handle extreme class imbalance by combining BCE + Dice loss.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b9ffa38b20_1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b9ffa38b20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This slide summarizes our proposed architecture and the baseline used for comparison.</a:t>
            </a:r>
            <a:br>
              <a:rPr lang="en-US"/>
            </a:br>
            <a:br>
              <a:rPr lang="en-US"/>
            </a:br>
            <a:r>
              <a:rPr lang="en-US">
                <a:solidFill>
                  <a:schemeClr val="dk1"/>
                </a:solidFill>
              </a:rPr>
              <a:t>We propose a </a:t>
            </a:r>
            <a:r>
              <a:rPr b="1" lang="en-US">
                <a:solidFill>
                  <a:schemeClr val="dk1"/>
                </a:solidFill>
              </a:rPr>
              <a:t>Multi-Modal Feature Pyramid Networ</a:t>
            </a:r>
            <a:br>
              <a:rPr lang="en-US">
                <a:solidFill>
                  <a:schemeClr val="dk1"/>
                </a:solidFill>
              </a:rPr>
            </a:br>
            <a:r>
              <a:rPr lang="en-US">
                <a:solidFill>
                  <a:schemeClr val="dk1"/>
                </a:solidFill>
              </a:rPr>
              <a:t>Sentinel-2 is the primary</a:t>
            </a:r>
            <a:r>
              <a:rPr b="1" lang="en-US">
                <a:solidFill>
                  <a:schemeClr val="dk1"/>
                </a:solidFill>
              </a:rPr>
              <a:t> </a:t>
            </a:r>
            <a:r>
              <a:rPr b="1" lang="en-US">
                <a:solidFill>
                  <a:srgbClr val="EF4444"/>
                </a:solidFill>
              </a:rPr>
              <a:t>spatial </a:t>
            </a:r>
            <a:r>
              <a:rPr b="1" lang="en-US">
                <a:solidFill>
                  <a:srgbClr val="064E3B"/>
                </a:solidFill>
              </a:rPr>
              <a:t>backbone</a:t>
            </a:r>
            <a:r>
              <a:rPr lang="en-US">
                <a:solidFill>
                  <a:srgbClr val="064E3B"/>
                </a:solidFill>
              </a:rPr>
              <a:t> </a:t>
            </a:r>
            <a:r>
              <a:rPr lang="en-US">
                <a:solidFill>
                  <a:schemeClr val="dk1"/>
                </a:solidFill>
              </a:rPr>
              <a:t>to preserve high-resolution structure.</a:t>
            </a:r>
            <a:endParaRPr>
              <a:solidFill>
                <a:schemeClr val="dk1"/>
              </a:solidFill>
            </a:endParaRPr>
          </a:p>
          <a:p>
            <a:pPr indent="0" lvl="0" marL="0" rtl="0" algn="l">
              <a:spcBef>
                <a:spcPts val="0"/>
              </a:spcBef>
              <a:spcAft>
                <a:spcPts val="0"/>
              </a:spcAft>
              <a:buNone/>
            </a:pPr>
            <a:r>
              <a:rPr lang="en-US">
                <a:solidFill>
                  <a:schemeClr val="dk1"/>
                </a:solidFill>
              </a:rPr>
              <a:t>Sentinel-2 inputs are encoded with a </a:t>
            </a:r>
            <a:r>
              <a:rPr b="1" lang="en-US">
                <a:solidFill>
                  <a:schemeClr val="dk1"/>
                </a:solidFill>
              </a:rPr>
              <a:t>strong encoder</a:t>
            </a:r>
            <a:r>
              <a:rPr lang="en-US">
                <a:solidFill>
                  <a:schemeClr val="dk1"/>
                </a:solidFill>
              </a:rPr>
              <a:t>, producing multi-scale feature maps.</a:t>
            </a:r>
            <a:br>
              <a:rPr lang="en-US">
                <a:solidFill>
                  <a:schemeClr val="dk1"/>
                </a:solidFill>
              </a:rPr>
            </a:br>
            <a:br>
              <a:rPr lang="en-US">
                <a:solidFill>
                  <a:schemeClr val="dk1"/>
                </a:solidFill>
              </a:rPr>
            </a:br>
            <a:r>
              <a:rPr lang="en-US">
                <a:solidFill>
                  <a:schemeClr val="dk1"/>
                </a:solidFill>
              </a:rPr>
              <a:t>All inputs are first </a:t>
            </a:r>
            <a:r>
              <a:rPr b="1" lang="en-US">
                <a:solidFill>
                  <a:srgbClr val="EF4444"/>
                </a:solidFill>
              </a:rPr>
              <a:t>spatially </a:t>
            </a:r>
            <a:r>
              <a:rPr b="1" lang="en-US">
                <a:solidFill>
                  <a:schemeClr val="dk1"/>
                </a:solidFill>
              </a:rPr>
              <a:t>aligned and normalized</a:t>
            </a:r>
            <a:r>
              <a:rPr lang="en-US">
                <a:solidFill>
                  <a:schemeClr val="dk1"/>
                </a:solidFill>
              </a:rPr>
              <a:t>, then </a:t>
            </a:r>
            <a:r>
              <a:rPr b="1" lang="en-US">
                <a:solidFill>
                  <a:schemeClr val="dk1"/>
                </a:solidFill>
              </a:rPr>
              <a:t>projected into the </a:t>
            </a:r>
            <a:r>
              <a:rPr b="1" lang="en-US">
                <a:solidFill>
                  <a:schemeClr val="dk1"/>
                </a:solidFill>
              </a:rPr>
              <a:t>Sentinel feature space</a:t>
            </a:r>
            <a:r>
              <a:rPr lang="en-US">
                <a:solidFill>
                  <a:schemeClr val="dk1"/>
                </a:solidFill>
              </a:rPr>
              <a:t>.</a:t>
            </a:r>
            <a:br>
              <a:rPr lang="en-US">
                <a:solidFill>
                  <a:schemeClr val="dk1"/>
                </a:solidFill>
              </a:rPr>
            </a:br>
            <a:br>
              <a:rPr lang="en-US">
                <a:solidFill>
                  <a:schemeClr val="dk1"/>
                </a:solidFill>
              </a:rPr>
            </a:br>
            <a:r>
              <a:rPr lang="en-US">
                <a:solidFill>
                  <a:schemeClr val="dk1"/>
                </a:solidFill>
              </a:rPr>
              <a:t>1) This ensures that fusion happens between </a:t>
            </a:r>
            <a:r>
              <a:rPr b="1" lang="en-US">
                <a:solidFill>
                  <a:schemeClr val="dk1"/>
                </a:solidFill>
              </a:rPr>
              <a:t>comparable </a:t>
            </a:r>
            <a:r>
              <a:rPr b="1" lang="en-US">
                <a:solidFill>
                  <a:srgbClr val="EF4444"/>
                </a:solidFill>
              </a:rPr>
              <a:t>spatial </a:t>
            </a:r>
            <a:r>
              <a:rPr b="1" lang="en-US">
                <a:solidFill>
                  <a:srgbClr val="064E3B"/>
                </a:solidFill>
              </a:rPr>
              <a:t>representations</a:t>
            </a:r>
            <a:r>
              <a:rPr lang="en-US">
                <a:solidFill>
                  <a:schemeClr val="dk1"/>
                </a:solidFill>
              </a:rPr>
              <a:t>, not raw heterogeneous inputs.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2) Fusion is performed at the </a:t>
            </a:r>
            <a:r>
              <a:rPr b="1" lang="en-US">
                <a:solidFill>
                  <a:schemeClr val="dk1"/>
                </a:solidFill>
              </a:rPr>
              <a:t>feature level and across multiple scales</a:t>
            </a:r>
            <a:r>
              <a:rPr lang="en-US">
                <a:solidFill>
                  <a:schemeClr val="dk1"/>
                </a:solidFill>
              </a:rPr>
              <a:t>, 3) using </a:t>
            </a:r>
            <a:r>
              <a:rPr b="1" lang="en-US">
                <a:solidFill>
                  <a:schemeClr val="dk1"/>
                </a:solidFill>
              </a:rPr>
              <a:t>learnable weights</a:t>
            </a:r>
            <a:r>
              <a:rPr lang="en-US">
                <a:solidFill>
                  <a:schemeClr val="dk1"/>
                </a:solidFill>
              </a:rPr>
              <a:t>, allowing the model to control the influence of each modalityt.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fused feature pyramid is decoded using an </a:t>
            </a:r>
            <a:r>
              <a:rPr b="1" lang="en-US">
                <a:solidFill>
                  <a:schemeClr val="dk1"/>
                </a:solidFill>
              </a:rPr>
              <a:t>FPN</a:t>
            </a:r>
            <a:r>
              <a:rPr lang="en-US">
                <a:solidFill>
                  <a:schemeClr val="dk1"/>
                </a:solidFill>
              </a:rPr>
              <a:t> to produce burned-area predictions.</a:t>
            </a:r>
            <a:br>
              <a:rPr lang="en-US">
                <a:solidFill>
                  <a:schemeClr val="dk1"/>
                </a:solidFill>
              </a:rPr>
            </a:br>
            <a:br>
              <a:rPr lang="en-US">
                <a:solidFill>
                  <a:schemeClr val="dk1"/>
                </a:solidFill>
              </a:rPr>
            </a:br>
            <a:r>
              <a:rPr lang="en-US">
                <a:solidFill>
                  <a:schemeClr val="dk1"/>
                </a:solidFill>
              </a:rPr>
              <a:t>Most importantly, During training, we add an </a:t>
            </a:r>
            <a:r>
              <a:rPr b="1" lang="en-US">
                <a:solidFill>
                  <a:schemeClr val="dk1"/>
                </a:solidFill>
              </a:rPr>
              <a:t>auxiliary land-cover segmentation task</a:t>
            </a:r>
            <a:r>
              <a:rPr lang="en-US">
                <a:solidFill>
                  <a:schemeClr val="dk1"/>
                </a:solidFill>
              </a:rPr>
              <a:t>, which regularizes the shared encoder by enforcing fuel-aware features, so it becomes Multi </a:t>
            </a:r>
            <a:r>
              <a:rPr lang="en-US">
                <a:solidFill>
                  <a:schemeClr val="dk1"/>
                </a:solidFill>
              </a:rPr>
              <a:t>task</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a:t>
            </a:r>
            <a:r>
              <a:rPr b="1" lang="en-US">
                <a:solidFill>
                  <a:schemeClr val="dk1"/>
                </a:solidFill>
              </a:rPr>
              <a:t>baseline</a:t>
            </a:r>
            <a:r>
              <a:rPr lang="en-US">
                <a:solidFill>
                  <a:schemeClr val="dk1"/>
                </a:solidFill>
              </a:rPr>
              <a:t> preserves the same inputs, alignment, fusion strategy, and decoder, but the type of </a:t>
            </a:r>
            <a:r>
              <a:rPr lang="en-US">
                <a:solidFill>
                  <a:schemeClr val="dk1"/>
                </a:solidFill>
              </a:rPr>
              <a:t>encoder</a:t>
            </a:r>
            <a:r>
              <a:rPr lang="en-US">
                <a:solidFill>
                  <a:schemeClr val="dk1"/>
                </a:solidFill>
              </a:rPr>
              <a:t> is </a:t>
            </a:r>
            <a:r>
              <a:rPr lang="en-US">
                <a:solidFill>
                  <a:schemeClr val="dk1"/>
                </a:solidFill>
              </a:rPr>
              <a:t>different</a:t>
            </a:r>
            <a:r>
              <a:rPr lang="en-US">
                <a:solidFill>
                  <a:schemeClr val="dk1"/>
                </a:solidFill>
              </a:rPr>
              <a:t> and also removed the auxiliary task and trains only on burned-area segmentation.</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9397ca1149_35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9397ca1149_35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None/>
            </a:pPr>
            <a:r>
              <a:rPr lang="en-US">
                <a:solidFill>
                  <a:srgbClr val="0E0E0E"/>
                </a:solidFill>
              </a:rPr>
              <a:t>This slide answers RQ1: whether pre-fire multimodal data can predict final burned area.</a:t>
            </a:r>
            <a:endParaRPr>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a:solidFill>
                <a:srgbClr val="0E0E0E"/>
              </a:solidFill>
            </a:endParaRPr>
          </a:p>
          <a:p>
            <a:pPr indent="0" lvl="0" marL="139700" rtl="0" algn="l">
              <a:lnSpc>
                <a:spcPct val="115000"/>
              </a:lnSpc>
              <a:spcBef>
                <a:spcPts val="0"/>
              </a:spcBef>
              <a:spcAft>
                <a:spcPts val="0"/>
              </a:spcAft>
              <a:buNone/>
            </a:pPr>
            <a:r>
              <a:rPr lang="en-US">
                <a:solidFill>
                  <a:srgbClr val="0E0E0E"/>
                </a:solidFill>
              </a:rPr>
              <a:t>We compare a Sentinel-2 baseline with our multimodal, multi-task model on a held-out 2023 test set.</a:t>
            </a:r>
            <a:endParaRPr>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a:solidFill>
                <a:srgbClr val="0E0E0E"/>
              </a:solidFill>
            </a:endParaRPr>
          </a:p>
          <a:p>
            <a:pPr indent="0" lvl="0" marL="139700" rtl="0" algn="l">
              <a:lnSpc>
                <a:spcPct val="115000"/>
              </a:lnSpc>
              <a:spcBef>
                <a:spcPts val="0"/>
              </a:spcBef>
              <a:spcAft>
                <a:spcPts val="0"/>
              </a:spcAft>
              <a:buNone/>
            </a:pPr>
            <a:r>
              <a:rPr lang="en-US">
                <a:solidFill>
                  <a:srgbClr val="0E0E0E"/>
                </a:solidFill>
              </a:rPr>
              <a:t>The results show consistent improvements across IoU, F1, precision, and recall at both strict and relaxed thresholds.</a:t>
            </a:r>
            <a:endParaRPr>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a:solidFill>
                <a:srgbClr val="0E0E0E"/>
              </a:solidFill>
            </a:endParaRPr>
          </a:p>
          <a:p>
            <a:pPr indent="0" lvl="0" marL="139700" rtl="0" algn="l">
              <a:lnSpc>
                <a:spcPct val="115000"/>
              </a:lnSpc>
              <a:spcBef>
                <a:spcPts val="0"/>
              </a:spcBef>
              <a:spcAft>
                <a:spcPts val="0"/>
              </a:spcAft>
              <a:buNone/>
            </a:pPr>
            <a:r>
              <a:rPr lang="en-US">
                <a:solidFill>
                  <a:srgbClr val="0E0E0E"/>
                </a:solidFill>
              </a:rPr>
              <a:t>For example, IoU at a 0.95 threshold increases from 0.15 to 0.40, corresponding to about a 70 percent relative gain.</a:t>
            </a:r>
            <a:endParaRPr>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US">
                <a:solidFill>
                  <a:srgbClr val="0E0E0E"/>
                </a:solidFill>
              </a:rPr>
              <a:t>This demonstrates that fusing complementary pre-fire data significantly improves ignition-time burned-area prediction.”</a:t>
            </a:r>
            <a:endParaRPr>
              <a:solidFill>
                <a:srgbClr val="0E0E0E"/>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b48065cdb8_0_1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3b48065cdb8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slide shows why the default threshold of 0.5 is misleading for this task.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When we sweep the threshold on the validation set, IoU </a:t>
            </a:r>
            <a:r>
              <a:rPr b="1" lang="en-US">
                <a:solidFill>
                  <a:schemeClr val="dk1"/>
                </a:solidFill>
              </a:rPr>
              <a:t>consistently improves</a:t>
            </a:r>
            <a:r>
              <a:rPr lang="en-US">
                <a:solidFill>
                  <a:schemeClr val="dk1"/>
                </a:solidFill>
              </a:rPr>
              <a:t> as the threshold increases. The best performance—around </a:t>
            </a:r>
            <a:r>
              <a:rPr b="1" lang="en-US">
                <a:solidFill>
                  <a:schemeClr val="dk1"/>
                </a:solidFill>
              </a:rPr>
              <a:t>0.40 IoU</a:t>
            </a:r>
            <a:r>
              <a:rPr lang="en-US">
                <a:solidFill>
                  <a:schemeClr val="dk1"/>
                </a:solidFill>
              </a:rPr>
              <a:t>—is reached at a high threshold of </a:t>
            </a:r>
            <a:r>
              <a:rPr b="1" lang="en-US">
                <a:solidFill>
                  <a:schemeClr val="dk1"/>
                </a:solidFill>
              </a:rPr>
              <a:t>0.95</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key point is that this gives us a </a:t>
            </a:r>
            <a:r>
              <a:rPr b="1" lang="en-US">
                <a:solidFill>
                  <a:schemeClr val="dk1"/>
                </a:solidFill>
              </a:rPr>
              <a:t>large gain, about 70%</a:t>
            </a:r>
            <a:r>
              <a:rPr lang="en-US">
                <a:solidFill>
                  <a:schemeClr val="dk1"/>
                </a:solidFill>
              </a:rPr>
              <a:t>, without retraining the model. It’s purely a calibration effect.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By using a higher threshold, we keep only the most confident predictions, which improves spatial overlap with the true burned area. This makes threshold calibration a simple and effective way to improve operational performance.</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397ca1149_18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9397ca1149_18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slide explains the threshold trade-off.</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At low thresholds, the model labels many pixels as burned. Recall is high, but this also creates many false positives. As the threshold increases, the model becomes more conservative: fewer pixels are predicted as burned, but precision improves.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For early response, false alarms are costly because they can misdirect resources. That’s why we select a high operating threshold of </a:t>
            </a:r>
            <a:r>
              <a:rPr b="1" lang="en-US">
                <a:solidFill>
                  <a:schemeClr val="dk1"/>
                </a:solidFill>
              </a:rPr>
              <a:t>0.95</a:t>
            </a:r>
            <a:r>
              <a:rPr lang="en-US">
                <a:solidFill>
                  <a:schemeClr val="dk1"/>
                </a:solidFill>
              </a:rPr>
              <a: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choice prioritizes </a:t>
            </a:r>
            <a:r>
              <a:rPr b="1" lang="en-US">
                <a:solidFill>
                  <a:schemeClr val="dk1"/>
                </a:solidFill>
              </a:rPr>
              <a:t>spatial accuracy and clean predictions</a:t>
            </a:r>
            <a:r>
              <a:rPr lang="en-US">
                <a:solidFill>
                  <a:schemeClr val="dk1"/>
                </a:solidFill>
              </a:rPr>
              <a:t>, rather than trying to capture every possible boundary. The goal is reliable decision support, not maximum recall.</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be1c8707af_2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be1c8707af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slide shows the effect of adding an auxiliary land-segmentation task to the model.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 the left, we measure performance change across different burned-area sizes. The biggest improvements appear in </a:t>
            </a:r>
            <a:r>
              <a:rPr b="1" lang="en-US">
                <a:solidFill>
                  <a:schemeClr val="dk1"/>
                </a:solidFill>
              </a:rPr>
              <a:t>small to medium fires</a:t>
            </a:r>
            <a:r>
              <a:rPr lang="en-US">
                <a:solidFill>
                  <a:schemeClr val="dk1"/>
                </a:solidFill>
              </a:rPr>
              <a:t>, especially in the mid-range burned fractions. These cases benefit the most from the auxiliary task, likely because spatial context matters more when the signal is subtle.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 the right, the cumulative win-rate confirms this trend. Across most thresholds, the new model outperforms the baseline more often than not.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Performance drops only for very large burns, but those cases are rare. Overall, the auxiliary task </a:t>
            </a:r>
            <a:r>
              <a:rPr b="1" lang="en-US">
                <a:solidFill>
                  <a:schemeClr val="dk1"/>
                </a:solidFill>
              </a:rPr>
              <a:t>consistently improves spatial segmentation</a:t>
            </a:r>
            <a:r>
              <a:rPr lang="en-US">
                <a:solidFill>
                  <a:schemeClr val="dk1"/>
                </a:solidFill>
              </a:rPr>
              <a:t>, especially where the problem is hardest.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c658d0b170_0_1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c658d0b170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139700" rtl="0" algn="l">
              <a:lnSpc>
                <a:spcPct val="115000"/>
              </a:lnSpc>
              <a:spcBef>
                <a:spcPts val="0"/>
              </a:spcBef>
              <a:spcAft>
                <a:spcPts val="0"/>
              </a:spcAft>
              <a:buNone/>
            </a:pPr>
            <a:r>
              <a:rPr lang="en-US">
                <a:solidFill>
                  <a:srgbClr val="0E0E0E"/>
                </a:solidFill>
              </a:rPr>
              <a:t>This slide answers RQ3 by analyzing how different data modalities contribute to model performance.</a:t>
            </a:r>
            <a:endParaRPr>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a:solidFill>
                <a:srgbClr val="0E0E0E"/>
              </a:solidFill>
            </a:endParaRPr>
          </a:p>
          <a:p>
            <a:pPr indent="0" lvl="0" marL="139700" rtl="0" algn="l">
              <a:lnSpc>
                <a:spcPct val="115000"/>
              </a:lnSpc>
              <a:spcBef>
                <a:spcPts val="0"/>
              </a:spcBef>
              <a:spcAft>
                <a:spcPts val="0"/>
              </a:spcAft>
              <a:buNone/>
            </a:pPr>
            <a:r>
              <a:rPr lang="en-US">
                <a:solidFill>
                  <a:srgbClr val="0E0E0E"/>
                </a:solidFill>
              </a:rPr>
              <a:t>We apply inference-time ablation, where the trained multimodal model is kept fixed and one modality is removed at a time. The resulting drop in IoU and F1 indicates that modality contribution</a:t>
            </a:r>
            <a:endParaRPr>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a:solidFill>
                <a:srgbClr val="0E0E0E"/>
              </a:solidFill>
            </a:endParaRPr>
          </a:p>
          <a:p>
            <a:pPr indent="0" lvl="0" marL="139700" rtl="0" algn="l">
              <a:lnSpc>
                <a:spcPct val="115000"/>
              </a:lnSpc>
              <a:spcBef>
                <a:spcPts val="0"/>
              </a:spcBef>
              <a:spcAft>
                <a:spcPts val="0"/>
              </a:spcAft>
              <a:buNone/>
            </a:pPr>
            <a:r>
              <a:rPr lang="en-US">
                <a:solidFill>
                  <a:srgbClr val="0E0E0E"/>
                </a:solidFill>
              </a:rPr>
              <a:t>The results show that removing Landsat causes the largest degradation, followed by ERA5, while other inputs have a smaller effect.</a:t>
            </a:r>
            <a:endParaRPr>
              <a:solidFill>
                <a:srgbClr val="0E0E0E"/>
              </a:solidFill>
            </a:endParaRPr>
          </a:p>
          <a:p>
            <a:pPr indent="0" lvl="0" marL="139700" rtl="0" algn="l">
              <a:lnSpc>
                <a:spcPct val="115000"/>
              </a:lnSpc>
              <a:spcBef>
                <a:spcPts val="0"/>
              </a:spcBef>
              <a:spcAft>
                <a:spcPts val="0"/>
              </a:spcAft>
              <a:buClr>
                <a:schemeClr val="dk1"/>
              </a:buClr>
              <a:buSzPts val="1100"/>
              <a:buFont typeface="Arial"/>
              <a:buNone/>
            </a:pPr>
            <a:r>
              <a:t/>
            </a:r>
            <a:endParaRPr>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US">
                <a:solidFill>
                  <a:srgbClr val="0E0E0E"/>
                </a:solidFill>
              </a:rPr>
              <a:t>The Sentinel-only bar is a single-modality baseline, not an ablation, and shows the gap between Sentinel alone and the full multimodal system.</a:t>
            </a:r>
            <a:endParaRPr>
              <a:solidFill>
                <a:srgbClr val="0E0E0E"/>
              </a:solidFill>
            </a:endParaRPr>
          </a:p>
          <a:p>
            <a:pPr indent="0" lvl="0" marL="139700" rtl="0" algn="l">
              <a:lnSpc>
                <a:spcPct val="115000"/>
              </a:lnSpc>
              <a:spcBef>
                <a:spcPts val="0"/>
              </a:spcBef>
              <a:spcAft>
                <a:spcPts val="0"/>
              </a:spcAft>
              <a:buClr>
                <a:schemeClr val="dk1"/>
              </a:buClr>
              <a:buSzPts val="1100"/>
              <a:buFont typeface="Arial"/>
              <a:buNone/>
            </a:pPr>
            <a:r>
              <a:rPr lang="en-US">
                <a:solidFill>
                  <a:srgbClr val="0E0E0E"/>
                </a:solidFill>
              </a:rPr>
              <a:t>Overall, Sentinel provides a strong core signal, and Landsat and ERA5 contribute the most complementary gains.</a:t>
            </a:r>
            <a:endParaRPr>
              <a:solidFill>
                <a:srgbClr val="0E0E0E"/>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b4587417a8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slide shows qualitative examples to make the results more concrete.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Each case has four views: the Sentinel-2 image for context, the predicted probability map, the ground-truth burned mask, and the error map at a threshold of 0.95.</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 the left, we see a </a:t>
            </a:r>
            <a:r>
              <a:rPr b="1" lang="en-US">
                <a:solidFill>
                  <a:schemeClr val="dk1"/>
                </a:solidFill>
              </a:rPr>
              <a:t>small and difficult fire</a:t>
            </a:r>
            <a:r>
              <a:rPr lang="en-US">
                <a:solidFill>
                  <a:schemeClr val="dk1"/>
                </a:solidFill>
              </a:rPr>
              <a:t>. The model behaves conservatively—it focuses on the most confident burned region and avoids spreading into noise. This means some edges are missed, but false alarms are reduced.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 the right, for a </a:t>
            </a:r>
            <a:r>
              <a:rPr b="1" lang="en-US">
                <a:solidFill>
                  <a:schemeClr val="dk1"/>
                </a:solidFill>
              </a:rPr>
              <a:t>large fire</a:t>
            </a:r>
            <a:r>
              <a:rPr lang="en-US">
                <a:solidFill>
                  <a:schemeClr val="dk1"/>
                </a:solidFill>
              </a:rPr>
              <a:t>, the model captures the shape very well, with strong spatial coherence. This is important because large fires have the highest impact, and this is where the model performs best</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236" name="Google Shape;236;g3b4587417a8_0_2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fd5d7d22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bfd5d7d22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“This slide shows qualitative examples of how the auxiliary task improves the predictions.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On the left, you see the baseline model, and in the middle, the model with the auxiliary task. The yellow mask on the right is the ground truth.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The key improvement is that the auxiliary model </a:t>
            </a:r>
            <a:r>
              <a:rPr b="1" lang="en-US">
                <a:solidFill>
                  <a:schemeClr val="dk1"/>
                </a:solidFill>
              </a:rPr>
              <a:t>recovers missing burned areas</a:t>
            </a:r>
            <a:r>
              <a:rPr lang="en-US">
                <a:solidFill>
                  <a:schemeClr val="dk1"/>
                </a:solidFill>
              </a:rPr>
              <a:t>, especially inside the fire region, while keeping the boundaries tight. In both examples, the baseline under-segments and leaves gaps.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With the auxiliary task, the predicted burn scars are </a:t>
            </a:r>
            <a:r>
              <a:rPr b="1" lang="en-US">
                <a:solidFill>
                  <a:schemeClr val="dk1"/>
                </a:solidFill>
              </a:rPr>
              <a:t>more complete, better aligned, and more spatially coherent</a:t>
            </a:r>
            <a:r>
              <a:rPr lang="en-US">
                <a:solidFill>
                  <a:schemeClr val="dk1"/>
                </a:solidFill>
              </a:rPr>
              <a:t>. This directly explains the IoU gains we saw in the quantitative results and shows that the improvement is structural, not just numerical.”</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b4e826daca_1_1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b4e826daca_1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I’ll finish with the main takeaways.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pre-fire multimodal data clearly contains useful information for predicting the final burned area. Second, combining multiple data sources consistently improves segmentation performance compared to a simple baseline.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Third, architecture choices matter. A unified, high-capacity encoder performed better than alternative encoder designs. At the same time, we were careful not to overcomplicate the model.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So the key message is this: </a:t>
            </a:r>
            <a:r>
              <a:rPr b="1" lang="en-US">
                <a:solidFill>
                  <a:schemeClr val="dk1"/>
                </a:solidFill>
              </a:rPr>
              <a:t>effective multimodal integration, paired with a well-chosen encoder, leads to more accurate and reliable burned-area prediction</a:t>
            </a:r>
            <a:r>
              <a:rPr lang="en-US">
                <a:solidFill>
                  <a:schemeClr val="dk1"/>
                </a:solidFill>
              </a:rPr>
              <a:t>, while keeping the system practical and reproducible.”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b4e826daca_7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b4e826daca_7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7.png"/><Relationship Id="rId4"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0.png"/><Relationship Id="rId5" Type="http://schemas.openxmlformats.org/officeDocument/2006/relationships/image" Target="../media/image2.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25.png"/><Relationship Id="rId5" Type="http://schemas.openxmlformats.org/officeDocument/2006/relationships/image" Target="../media/image3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15.png"/><Relationship Id="rId10" Type="http://schemas.openxmlformats.org/officeDocument/2006/relationships/image" Target="../media/image4.png"/><Relationship Id="rId9"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8.png"/><Relationship Id="rId7" Type="http://schemas.openxmlformats.org/officeDocument/2006/relationships/image" Target="../media/image5.png"/><Relationship Id="rId8"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5.png"/><Relationship Id="rId11" Type="http://schemas.openxmlformats.org/officeDocument/2006/relationships/image" Target="../media/image32.png"/><Relationship Id="rId10" Type="http://schemas.openxmlformats.org/officeDocument/2006/relationships/image" Target="../media/image14.png"/><Relationship Id="rId12" Type="http://schemas.openxmlformats.org/officeDocument/2006/relationships/image" Target="../media/image19.png"/><Relationship Id="rId9" Type="http://schemas.openxmlformats.org/officeDocument/2006/relationships/image" Target="../media/image45.png"/><Relationship Id="rId5" Type="http://schemas.openxmlformats.org/officeDocument/2006/relationships/image" Target="../media/image17.png"/><Relationship Id="rId6" Type="http://schemas.openxmlformats.org/officeDocument/2006/relationships/image" Target="../media/image20.png"/><Relationship Id="rId7" Type="http://schemas.openxmlformats.org/officeDocument/2006/relationships/image" Target="../media/image11.png"/><Relationship Id="rId8"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6.png"/><Relationship Id="rId4" Type="http://schemas.openxmlformats.org/officeDocument/2006/relationships/image" Target="../media/image16.png"/><Relationship Id="rId9" Type="http://schemas.openxmlformats.org/officeDocument/2006/relationships/image" Target="../media/image29.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2.png"/><Relationship Id="rId8" Type="http://schemas.openxmlformats.org/officeDocument/2006/relationships/image" Target="../media/image3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8.png"/><Relationship Id="rId4" Type="http://schemas.openxmlformats.org/officeDocument/2006/relationships/image" Target="../media/image34.png"/><Relationship Id="rId5" Type="http://schemas.openxmlformats.org/officeDocument/2006/relationships/image" Target="../media/image42.png"/><Relationship Id="rId6" Type="http://schemas.openxmlformats.org/officeDocument/2006/relationships/image" Target="../media/image4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7.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87" name="Shape 87"/>
        <p:cNvGrpSpPr/>
        <p:nvPr/>
      </p:nvGrpSpPr>
      <p:grpSpPr>
        <a:xfrm>
          <a:off x="0" y="0"/>
          <a:ext cx="0" cy="0"/>
          <a:chOff x="0" y="0"/>
          <a:chExt cx="0" cy="0"/>
        </a:xfrm>
      </p:grpSpPr>
      <p:sp>
        <p:nvSpPr>
          <p:cNvPr id="88" name="Google Shape;88;p14"/>
          <p:cNvSpPr/>
          <p:nvPr/>
        </p:nvSpPr>
        <p:spPr>
          <a:xfrm>
            <a:off x="581025" y="4048125"/>
            <a:ext cx="11080500" cy="2662800"/>
          </a:xfrm>
          <a:prstGeom prst="roundRect">
            <a:avLst>
              <a:gd fmla="val 16667" name="adj"/>
            </a:avLst>
          </a:prstGeom>
          <a:solidFill>
            <a:srgbClr val="1B1F31"/>
          </a:solidFill>
          <a:ln cap="flat" cmpd="sng" w="9525">
            <a:solidFill>
              <a:srgbClr val="212C3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9" name="Google Shape;89;p14"/>
          <p:cNvSpPr/>
          <p:nvPr/>
        </p:nvSpPr>
        <p:spPr>
          <a:xfrm>
            <a:off x="581025" y="981375"/>
            <a:ext cx="11080500" cy="2992800"/>
          </a:xfrm>
          <a:prstGeom prst="roundRect">
            <a:avLst>
              <a:gd fmla="val 16667" name="adj"/>
            </a:avLst>
          </a:prstGeom>
          <a:solidFill>
            <a:srgbClr val="14192D"/>
          </a:solidFill>
          <a:ln cap="flat" cmpd="sng" w="9525">
            <a:solidFill>
              <a:srgbClr val="212C3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0" name="Google Shape;90;p14"/>
          <p:cNvSpPr txBox="1"/>
          <p:nvPr/>
        </p:nvSpPr>
        <p:spPr>
          <a:xfrm>
            <a:off x="810600" y="276300"/>
            <a:ext cx="113814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8FAFC"/>
                </a:solidFill>
                <a:latin typeface="Inter"/>
                <a:ea typeface="Inter"/>
                <a:cs typeface="Inter"/>
                <a:sym typeface="Inter"/>
              </a:rPr>
              <a:t>Project Objective</a:t>
            </a:r>
            <a:endParaRPr/>
          </a:p>
        </p:txBody>
      </p:sp>
      <p:sp>
        <p:nvSpPr>
          <p:cNvPr id="91" name="Google Shape;91;p14"/>
          <p:cNvSpPr/>
          <p:nvPr/>
        </p:nvSpPr>
        <p:spPr>
          <a:xfrm>
            <a:off x="581025" y="290262"/>
            <a:ext cx="47700" cy="485700"/>
          </a:xfrm>
          <a:prstGeom prst="rect">
            <a:avLst/>
          </a:prstGeom>
          <a:solidFill>
            <a:srgbClr val="FF57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 name="Google Shape;92;p14"/>
          <p:cNvSpPr txBox="1"/>
          <p:nvPr/>
        </p:nvSpPr>
        <p:spPr>
          <a:xfrm>
            <a:off x="842099" y="1248819"/>
            <a:ext cx="9260100" cy="277200"/>
          </a:xfrm>
          <a:prstGeom prst="rect">
            <a:avLst/>
          </a:prstGeom>
          <a:noFill/>
          <a:ln>
            <a:noFill/>
          </a:ln>
        </p:spPr>
        <p:txBody>
          <a:bodyPr anchorCtr="0" anchor="t" bIns="0" lIns="222925" spcFirstLastPara="1" rIns="0" wrap="square" tIns="0">
            <a:spAutoFit/>
          </a:bodyPr>
          <a:lstStyle/>
          <a:p>
            <a:pPr indent="0" lvl="0" marL="0" marR="0" rtl="0" algn="l">
              <a:spcBef>
                <a:spcPts val="0"/>
              </a:spcBef>
              <a:spcAft>
                <a:spcPts val="0"/>
              </a:spcAft>
              <a:buNone/>
            </a:pPr>
            <a:r>
              <a:rPr b="1" i="0" lang="en-US" sz="1800" u="none" cap="none" strike="noStrike">
                <a:solidFill>
                  <a:srgbClr val="F97316"/>
                </a:solidFill>
                <a:latin typeface="Inter"/>
                <a:ea typeface="Inter"/>
                <a:cs typeface="Inter"/>
                <a:sym typeface="Inter"/>
              </a:rPr>
              <a:t>Core Objective</a:t>
            </a:r>
            <a:endParaRPr>
              <a:solidFill>
                <a:srgbClr val="F97316"/>
              </a:solidFill>
            </a:endParaRPr>
          </a:p>
        </p:txBody>
      </p:sp>
      <p:sp>
        <p:nvSpPr>
          <p:cNvPr id="93" name="Google Shape;93;p14"/>
          <p:cNvSpPr txBox="1"/>
          <p:nvPr/>
        </p:nvSpPr>
        <p:spPr>
          <a:xfrm>
            <a:off x="947425" y="1600374"/>
            <a:ext cx="5028000" cy="12051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CBD5E1"/>
                </a:solidFill>
                <a:latin typeface="Inter"/>
                <a:ea typeface="Inter"/>
                <a:cs typeface="Inter"/>
                <a:sym typeface="Inter"/>
              </a:rPr>
              <a:t>To develop a multimodal deep learning model capable of </a:t>
            </a:r>
            <a:r>
              <a:rPr b="1" i="0" lang="en-US" sz="1350" u="none" cap="none" strike="noStrike">
                <a:solidFill>
                  <a:srgbClr val="F97316"/>
                </a:solidFill>
                <a:latin typeface="Inter"/>
                <a:ea typeface="Inter"/>
                <a:cs typeface="Inter"/>
                <a:sym typeface="Inter"/>
              </a:rPr>
              <a:t>Predicting the final burned area</a:t>
            </a:r>
            <a:r>
              <a:rPr b="1" i="0" lang="en-US" sz="1350" u="none" cap="none" strike="noStrike">
                <a:solidFill>
                  <a:srgbClr val="D35400"/>
                </a:solidFill>
                <a:latin typeface="Inter"/>
                <a:ea typeface="Inter"/>
                <a:cs typeface="Inter"/>
                <a:sym typeface="Inter"/>
              </a:rPr>
              <a:t> </a:t>
            </a:r>
            <a:r>
              <a:rPr b="1" i="0" lang="en-US" sz="1350" u="none" cap="none" strike="noStrike">
                <a:solidFill>
                  <a:srgbClr val="F97316"/>
                </a:solidFill>
                <a:latin typeface="Inter"/>
                <a:ea typeface="Inter"/>
                <a:cs typeface="Inter"/>
                <a:sym typeface="Inter"/>
              </a:rPr>
              <a:t>extent</a:t>
            </a:r>
            <a:r>
              <a:rPr b="1" i="0" lang="en-US" sz="1350" u="none" cap="none" strike="noStrike">
                <a:solidFill>
                  <a:srgbClr val="CBD5E1"/>
                </a:solidFill>
                <a:latin typeface="Inter"/>
                <a:ea typeface="Inter"/>
                <a:cs typeface="Inter"/>
                <a:sym typeface="Inter"/>
              </a:rPr>
              <a:t>  right at the moment of ignition, </a:t>
            </a:r>
            <a:r>
              <a:rPr b="0" i="0" lang="en-US" sz="1350" u="none" cap="none" strike="noStrike">
                <a:solidFill>
                  <a:srgbClr val="CBD5E1"/>
                </a:solidFill>
                <a:latin typeface="Inter"/>
                <a:ea typeface="Inter"/>
                <a:cs typeface="Inter"/>
                <a:sym typeface="Inter"/>
              </a:rPr>
              <a:t>using only </a:t>
            </a:r>
            <a:r>
              <a:rPr lang="en-US" sz="1350">
                <a:solidFill>
                  <a:srgbClr val="F8FAFC"/>
                </a:solidFill>
                <a:latin typeface="Inter"/>
                <a:ea typeface="Inter"/>
                <a:cs typeface="Inter"/>
                <a:sym typeface="Inter"/>
              </a:rPr>
              <a:t>pre-fire multimodal data that </a:t>
            </a:r>
            <a:r>
              <a:rPr b="0" i="0" lang="en-US" sz="1350" u="none" cap="none" strike="noStrike">
                <a:solidFill>
                  <a:srgbClr val="CBD5E1"/>
                </a:solidFill>
                <a:latin typeface="Inter"/>
                <a:ea typeface="Inter"/>
                <a:cs typeface="Inter"/>
                <a:sym typeface="Inter"/>
              </a:rPr>
              <a:t> fused into a multimodal model</a:t>
            </a:r>
            <a:endParaRPr sz="1350"/>
          </a:p>
        </p:txBody>
      </p:sp>
      <p:sp>
        <p:nvSpPr>
          <p:cNvPr id="94" name="Google Shape;94;p14"/>
          <p:cNvSpPr txBox="1"/>
          <p:nvPr/>
        </p:nvSpPr>
        <p:spPr>
          <a:xfrm>
            <a:off x="881549" y="2883446"/>
            <a:ext cx="48288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97316"/>
                </a:solidFill>
                <a:latin typeface="Inter"/>
                <a:ea typeface="Inter"/>
                <a:cs typeface="Inter"/>
                <a:sym typeface="Inter"/>
              </a:rPr>
              <a:t>Input:</a:t>
            </a:r>
            <a:r>
              <a:rPr b="0" i="0" lang="en-US" sz="1350" u="none" cap="none" strike="noStrike">
                <a:solidFill>
                  <a:srgbClr val="CBD5E1"/>
                </a:solidFill>
                <a:latin typeface="Inter"/>
                <a:ea typeface="Inter"/>
                <a:cs typeface="Inter"/>
                <a:sym typeface="Inter"/>
              </a:rPr>
              <a:t> Pre-fire environmental data (Satellite, Topography, Weather) + Ignition Point.</a:t>
            </a:r>
            <a:endParaRPr/>
          </a:p>
        </p:txBody>
      </p:sp>
      <p:sp>
        <p:nvSpPr>
          <p:cNvPr id="95" name="Google Shape;95;p14"/>
          <p:cNvSpPr txBox="1"/>
          <p:nvPr/>
        </p:nvSpPr>
        <p:spPr>
          <a:xfrm>
            <a:off x="936099" y="3516046"/>
            <a:ext cx="8819100" cy="207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97316"/>
                </a:solidFill>
                <a:latin typeface="Inter"/>
                <a:ea typeface="Inter"/>
                <a:cs typeface="Inter"/>
                <a:sym typeface="Inter"/>
              </a:rPr>
              <a:t>Output:</a:t>
            </a:r>
            <a:r>
              <a:rPr b="0" i="0" lang="en-US" sz="1350" u="none" cap="none" strike="noStrike">
                <a:solidFill>
                  <a:srgbClr val="F97316"/>
                </a:solidFill>
                <a:latin typeface="Inter"/>
                <a:ea typeface="Inter"/>
                <a:cs typeface="Inter"/>
                <a:sym typeface="Inter"/>
              </a:rPr>
              <a:t> </a:t>
            </a:r>
            <a:r>
              <a:rPr b="0" i="0" lang="en-US" sz="1350" u="none" cap="none" strike="noStrike">
                <a:solidFill>
                  <a:srgbClr val="CBD5E1"/>
                </a:solidFill>
                <a:latin typeface="Inter"/>
                <a:ea typeface="Inter"/>
                <a:cs typeface="Inter"/>
                <a:sym typeface="Inter"/>
              </a:rPr>
              <a:t>Predicted binary mask of the final burned area.</a:t>
            </a:r>
            <a:endParaRPr/>
          </a:p>
        </p:txBody>
      </p:sp>
      <p:sp>
        <p:nvSpPr>
          <p:cNvPr id="96" name="Google Shape;96;p14"/>
          <p:cNvSpPr txBox="1"/>
          <p:nvPr/>
        </p:nvSpPr>
        <p:spPr>
          <a:xfrm>
            <a:off x="936100" y="4456537"/>
            <a:ext cx="4920600" cy="277200"/>
          </a:xfrm>
          <a:prstGeom prst="rect">
            <a:avLst/>
          </a:prstGeom>
          <a:noFill/>
          <a:ln>
            <a:noFill/>
          </a:ln>
        </p:spPr>
        <p:txBody>
          <a:bodyPr anchorCtr="0" anchor="t" bIns="0" lIns="251500" spcFirstLastPara="1" rIns="0" wrap="square" tIns="0">
            <a:spAutoFit/>
          </a:bodyPr>
          <a:lstStyle/>
          <a:p>
            <a:pPr indent="0" lvl="0" marL="0" marR="0" rtl="0" algn="l">
              <a:spcBef>
                <a:spcPts val="0"/>
              </a:spcBef>
              <a:spcAft>
                <a:spcPts val="0"/>
              </a:spcAft>
              <a:buNone/>
            </a:pPr>
            <a:r>
              <a:rPr b="1" i="0" lang="en-US" sz="1800" u="none" cap="none" strike="noStrike">
                <a:solidFill>
                  <a:srgbClr val="F97316"/>
                </a:solidFill>
                <a:latin typeface="Inter"/>
                <a:ea typeface="Inter"/>
                <a:cs typeface="Inter"/>
                <a:sym typeface="Inter"/>
              </a:rPr>
              <a:t>The Paradigm Shift</a:t>
            </a:r>
            <a:endParaRPr>
              <a:solidFill>
                <a:srgbClr val="F97316"/>
              </a:solidFill>
            </a:endParaRPr>
          </a:p>
        </p:txBody>
      </p:sp>
      <p:sp>
        <p:nvSpPr>
          <p:cNvPr id="97" name="Google Shape;97;p14"/>
          <p:cNvSpPr txBox="1"/>
          <p:nvPr/>
        </p:nvSpPr>
        <p:spPr>
          <a:xfrm>
            <a:off x="941475" y="4993616"/>
            <a:ext cx="52587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97316"/>
                </a:solidFill>
                <a:latin typeface="Inter"/>
                <a:ea typeface="Inter"/>
                <a:cs typeface="Inter"/>
                <a:sym typeface="Inter"/>
              </a:rPr>
              <a:t>Current State (Reactive):</a:t>
            </a:r>
            <a:r>
              <a:rPr b="0" i="0" lang="en-US" sz="1350" u="none" cap="none" strike="noStrike">
                <a:solidFill>
                  <a:srgbClr val="F97316"/>
                </a:solidFill>
                <a:latin typeface="Inter"/>
                <a:ea typeface="Inter"/>
                <a:cs typeface="Inter"/>
                <a:sym typeface="Inter"/>
              </a:rPr>
              <a:t> </a:t>
            </a:r>
            <a:r>
              <a:rPr b="0" i="0" lang="en-US" sz="1350" u="none" cap="none" strike="noStrike">
                <a:solidFill>
                  <a:srgbClr val="CBD5E1"/>
                </a:solidFill>
                <a:latin typeface="Inter"/>
                <a:ea typeface="Inter"/>
                <a:cs typeface="Inter"/>
                <a:sym typeface="Inter"/>
              </a:rPr>
              <a:t>Remote sensing is primarily used for post-event damage assessment.</a:t>
            </a:r>
            <a:endParaRPr/>
          </a:p>
        </p:txBody>
      </p:sp>
      <p:sp>
        <p:nvSpPr>
          <p:cNvPr id="98" name="Google Shape;98;p14"/>
          <p:cNvSpPr txBox="1"/>
          <p:nvPr/>
        </p:nvSpPr>
        <p:spPr>
          <a:xfrm>
            <a:off x="936100" y="5793825"/>
            <a:ext cx="5905200" cy="54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F97316"/>
                </a:solidFill>
                <a:latin typeface="Inter"/>
                <a:ea typeface="Inter"/>
                <a:cs typeface="Inter"/>
                <a:sym typeface="Inter"/>
              </a:rPr>
              <a:t>Target State (Proactive):</a:t>
            </a:r>
            <a:r>
              <a:rPr b="0" i="0" lang="en-US" sz="1350" u="none" cap="none" strike="noStrike">
                <a:solidFill>
                  <a:srgbClr val="F97316"/>
                </a:solidFill>
                <a:latin typeface="Inter"/>
                <a:ea typeface="Inter"/>
                <a:cs typeface="Inter"/>
                <a:sym typeface="Inter"/>
              </a:rPr>
              <a:t> </a:t>
            </a:r>
            <a:r>
              <a:rPr lang="en-US" sz="1350">
                <a:solidFill>
                  <a:srgbClr val="CBD5E1"/>
                </a:solidFill>
                <a:latin typeface="Inter"/>
                <a:ea typeface="Inter"/>
                <a:cs typeface="Inter"/>
                <a:sym typeface="Inter"/>
              </a:rPr>
              <a:t>To e</a:t>
            </a:r>
            <a:r>
              <a:rPr lang="en-US" sz="1350">
                <a:solidFill>
                  <a:srgbClr val="CBD5E1"/>
                </a:solidFill>
                <a:latin typeface="Inter"/>
                <a:ea typeface="Inter"/>
                <a:cs typeface="Inter"/>
                <a:sym typeface="Inter"/>
              </a:rPr>
              <a:t>stimate</a:t>
            </a:r>
            <a:r>
              <a:rPr b="0" i="0" lang="en-US" sz="1350" u="none" cap="none" strike="noStrike">
                <a:solidFill>
                  <a:srgbClr val="CBD5E1"/>
                </a:solidFill>
                <a:latin typeface="Inter"/>
                <a:ea typeface="Inter"/>
                <a:cs typeface="Inter"/>
                <a:sym typeface="Inter"/>
              </a:rPr>
              <a:t> the spread of fire imm</a:t>
            </a:r>
            <a:r>
              <a:rPr lang="en-US" sz="1350">
                <a:solidFill>
                  <a:srgbClr val="CBD5E1"/>
                </a:solidFill>
                <a:latin typeface="Inter"/>
                <a:ea typeface="Inter"/>
                <a:cs typeface="Inter"/>
                <a:sym typeface="Inter"/>
              </a:rPr>
              <a:t>ediately </a:t>
            </a:r>
            <a:r>
              <a:rPr b="0" i="0" lang="en-US" sz="1350" u="none" cap="none" strike="noStrike">
                <a:solidFill>
                  <a:srgbClr val="CBD5E1"/>
                </a:solidFill>
                <a:latin typeface="Inter"/>
                <a:ea typeface="Inter"/>
                <a:cs typeface="Inter"/>
                <a:sym typeface="Inter"/>
              </a:rPr>
              <a:t>to </a:t>
            </a:r>
            <a:r>
              <a:rPr lang="en-US" sz="1350">
                <a:solidFill>
                  <a:srgbClr val="CBD5E1"/>
                </a:solidFill>
                <a:latin typeface="Inter"/>
                <a:ea typeface="Inter"/>
                <a:cs typeface="Inter"/>
                <a:sym typeface="Inter"/>
              </a:rPr>
              <a:t>allocate </a:t>
            </a:r>
            <a:r>
              <a:rPr b="0" i="0" lang="en-US" sz="1350" u="none" cap="none" strike="noStrike">
                <a:solidFill>
                  <a:srgbClr val="CBD5E1"/>
                </a:solidFill>
                <a:latin typeface="Inter"/>
                <a:ea typeface="Inter"/>
                <a:cs typeface="Inter"/>
                <a:sym typeface="Inter"/>
              </a:rPr>
              <a:t>resources </a:t>
            </a:r>
            <a:r>
              <a:rPr lang="en-US" sz="1350">
                <a:solidFill>
                  <a:srgbClr val="CBD5E1"/>
                </a:solidFill>
                <a:latin typeface="Inter"/>
                <a:ea typeface="Inter"/>
                <a:cs typeface="Inter"/>
                <a:sym typeface="Inter"/>
              </a:rPr>
              <a:t>immediately</a:t>
            </a:r>
            <a:r>
              <a:rPr lang="en-US" sz="1350">
                <a:solidFill>
                  <a:srgbClr val="CBD5E1"/>
                </a:solidFill>
                <a:latin typeface="Inter"/>
                <a:ea typeface="Inter"/>
                <a:cs typeface="Inter"/>
                <a:sym typeface="Inter"/>
              </a:rPr>
              <a:t> </a:t>
            </a:r>
            <a:r>
              <a:rPr b="0" i="0" lang="en-US" sz="1350" u="none" cap="none" strike="noStrike">
                <a:solidFill>
                  <a:srgbClr val="CBD5E1"/>
                </a:solidFill>
                <a:latin typeface="Inter"/>
                <a:ea typeface="Inter"/>
                <a:cs typeface="Inter"/>
                <a:sym typeface="Inter"/>
              </a:rPr>
              <a:t>during the "Golden Hour".</a:t>
            </a:r>
            <a:endParaRPr/>
          </a:p>
        </p:txBody>
      </p:sp>
      <p:pic>
        <p:nvPicPr>
          <p:cNvPr id="99" name="Google Shape;99;p14"/>
          <p:cNvPicPr preferRelativeResize="0"/>
          <p:nvPr/>
        </p:nvPicPr>
        <p:blipFill rotWithShape="1">
          <a:blip r:embed="rId3">
            <a:alphaModFix/>
          </a:blip>
          <a:srcRect b="0" l="0" r="0" t="1215"/>
          <a:stretch/>
        </p:blipFill>
        <p:spPr>
          <a:xfrm>
            <a:off x="6822975" y="1276800"/>
            <a:ext cx="4591050" cy="2277700"/>
          </a:xfrm>
          <a:prstGeom prst="rect">
            <a:avLst/>
          </a:prstGeom>
          <a:noFill/>
          <a:ln>
            <a:noFill/>
          </a:ln>
        </p:spPr>
      </p:pic>
      <p:pic>
        <p:nvPicPr>
          <p:cNvPr id="100" name="Google Shape;100;p14"/>
          <p:cNvPicPr preferRelativeResize="0"/>
          <p:nvPr/>
        </p:nvPicPr>
        <p:blipFill>
          <a:blip r:embed="rId4">
            <a:alphaModFix/>
          </a:blip>
          <a:stretch>
            <a:fillRect/>
          </a:stretch>
        </p:blipFill>
        <p:spPr>
          <a:xfrm>
            <a:off x="6879247" y="4172806"/>
            <a:ext cx="4543425" cy="24479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04" name="Shape 104"/>
        <p:cNvGrpSpPr/>
        <p:nvPr/>
      </p:nvGrpSpPr>
      <p:grpSpPr>
        <a:xfrm>
          <a:off x="0" y="0"/>
          <a:ext cx="0" cy="0"/>
          <a:chOff x="0" y="0"/>
          <a:chExt cx="0" cy="0"/>
        </a:xfrm>
      </p:grpSpPr>
      <p:sp>
        <p:nvSpPr>
          <p:cNvPr id="105" name="Google Shape;105;p15"/>
          <p:cNvSpPr txBox="1"/>
          <p:nvPr/>
        </p:nvSpPr>
        <p:spPr>
          <a:xfrm>
            <a:off x="810600" y="276300"/>
            <a:ext cx="113814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150">
                <a:solidFill>
                  <a:srgbClr val="F8FAFC"/>
                </a:solidFill>
                <a:latin typeface="Inter"/>
                <a:ea typeface="Inter"/>
                <a:cs typeface="Inter"/>
                <a:sym typeface="Inter"/>
              </a:rPr>
              <a:t>Value Proposition</a:t>
            </a:r>
            <a:endParaRPr/>
          </a:p>
        </p:txBody>
      </p:sp>
      <p:sp>
        <p:nvSpPr>
          <p:cNvPr id="106" name="Google Shape;106;p15"/>
          <p:cNvSpPr/>
          <p:nvPr/>
        </p:nvSpPr>
        <p:spPr>
          <a:xfrm>
            <a:off x="581025" y="290262"/>
            <a:ext cx="47700" cy="485700"/>
          </a:xfrm>
          <a:prstGeom prst="rect">
            <a:avLst/>
          </a:prstGeom>
          <a:solidFill>
            <a:srgbClr val="FF57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07" name="Google Shape;107;p15"/>
          <p:cNvPicPr preferRelativeResize="0"/>
          <p:nvPr/>
        </p:nvPicPr>
        <p:blipFill rotWithShape="1">
          <a:blip r:embed="rId3">
            <a:alphaModFix/>
          </a:blip>
          <a:srcRect b="0" l="0" r="0" t="0"/>
          <a:stretch/>
        </p:blipFill>
        <p:spPr>
          <a:xfrm>
            <a:off x="607513" y="1813133"/>
            <a:ext cx="3576099" cy="3742700"/>
          </a:xfrm>
          <a:prstGeom prst="rect">
            <a:avLst/>
          </a:prstGeom>
          <a:noFill/>
          <a:ln>
            <a:noFill/>
          </a:ln>
        </p:spPr>
      </p:pic>
      <p:pic>
        <p:nvPicPr>
          <p:cNvPr descr="image.png" id="108" name="Google Shape;108;p15"/>
          <p:cNvPicPr preferRelativeResize="0"/>
          <p:nvPr/>
        </p:nvPicPr>
        <p:blipFill rotWithShape="1">
          <a:blip r:embed="rId3">
            <a:alphaModFix/>
          </a:blip>
          <a:srcRect b="0" l="0" r="0" t="0"/>
          <a:stretch/>
        </p:blipFill>
        <p:spPr>
          <a:xfrm>
            <a:off x="4294388" y="1813158"/>
            <a:ext cx="3570100" cy="3742700"/>
          </a:xfrm>
          <a:prstGeom prst="rect">
            <a:avLst/>
          </a:prstGeom>
          <a:noFill/>
          <a:ln>
            <a:noFill/>
          </a:ln>
        </p:spPr>
      </p:pic>
      <p:pic>
        <p:nvPicPr>
          <p:cNvPr descr="image.png" id="109" name="Google Shape;109;p15"/>
          <p:cNvPicPr preferRelativeResize="0"/>
          <p:nvPr/>
        </p:nvPicPr>
        <p:blipFill rotWithShape="1">
          <a:blip r:embed="rId3">
            <a:alphaModFix/>
          </a:blip>
          <a:srcRect b="0" l="0" r="0" t="0"/>
          <a:stretch/>
        </p:blipFill>
        <p:spPr>
          <a:xfrm>
            <a:off x="8008388" y="1813133"/>
            <a:ext cx="3576099" cy="3742700"/>
          </a:xfrm>
          <a:prstGeom prst="rect">
            <a:avLst/>
          </a:prstGeom>
          <a:noFill/>
          <a:ln>
            <a:noFill/>
          </a:ln>
        </p:spPr>
      </p:pic>
      <p:pic>
        <p:nvPicPr>
          <p:cNvPr descr="image.png" id="110" name="Google Shape;110;p15"/>
          <p:cNvPicPr preferRelativeResize="0"/>
          <p:nvPr/>
        </p:nvPicPr>
        <p:blipFill rotWithShape="1">
          <a:blip r:embed="rId4">
            <a:alphaModFix/>
          </a:blip>
          <a:srcRect b="0" l="0" r="0" t="0"/>
          <a:stretch/>
        </p:blipFill>
        <p:spPr>
          <a:xfrm>
            <a:off x="732513" y="1965762"/>
            <a:ext cx="1159829" cy="1171427"/>
          </a:xfrm>
          <a:prstGeom prst="rect">
            <a:avLst/>
          </a:prstGeom>
          <a:noFill/>
          <a:ln>
            <a:noFill/>
          </a:ln>
        </p:spPr>
      </p:pic>
      <p:pic>
        <p:nvPicPr>
          <p:cNvPr descr="image.png" id="111" name="Google Shape;111;p15"/>
          <p:cNvPicPr preferRelativeResize="0"/>
          <p:nvPr/>
        </p:nvPicPr>
        <p:blipFill rotWithShape="1">
          <a:blip r:embed="rId5">
            <a:alphaModFix/>
          </a:blip>
          <a:srcRect b="0" l="0" r="0" t="0"/>
          <a:stretch/>
        </p:blipFill>
        <p:spPr>
          <a:xfrm>
            <a:off x="4451238" y="1965769"/>
            <a:ext cx="1159829" cy="1171427"/>
          </a:xfrm>
          <a:prstGeom prst="rect">
            <a:avLst/>
          </a:prstGeom>
          <a:noFill/>
          <a:ln>
            <a:noFill/>
          </a:ln>
        </p:spPr>
      </p:pic>
      <p:pic>
        <p:nvPicPr>
          <p:cNvPr descr="image.png" id="112" name="Google Shape;112;p15"/>
          <p:cNvPicPr preferRelativeResize="0"/>
          <p:nvPr/>
        </p:nvPicPr>
        <p:blipFill rotWithShape="1">
          <a:blip r:embed="rId6">
            <a:alphaModFix/>
          </a:blip>
          <a:srcRect b="0" l="0" r="0" t="0"/>
          <a:stretch/>
        </p:blipFill>
        <p:spPr>
          <a:xfrm>
            <a:off x="8095950" y="1965779"/>
            <a:ext cx="1159829" cy="1171427"/>
          </a:xfrm>
          <a:prstGeom prst="rect">
            <a:avLst/>
          </a:prstGeom>
          <a:noFill/>
          <a:ln>
            <a:noFill/>
          </a:ln>
        </p:spPr>
      </p:pic>
      <p:sp>
        <p:nvSpPr>
          <p:cNvPr id="113" name="Google Shape;113;p15"/>
          <p:cNvSpPr txBox="1"/>
          <p:nvPr/>
        </p:nvSpPr>
        <p:spPr>
          <a:xfrm>
            <a:off x="1980622" y="2164965"/>
            <a:ext cx="2082300" cy="646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Environmental Impact</a:t>
            </a:r>
            <a:endParaRPr>
              <a:solidFill>
                <a:srgbClr val="F8FAFC"/>
              </a:solidFill>
            </a:endParaRPr>
          </a:p>
        </p:txBody>
      </p:sp>
      <p:sp>
        <p:nvSpPr>
          <p:cNvPr id="114" name="Google Shape;114;p15"/>
          <p:cNvSpPr txBox="1"/>
          <p:nvPr/>
        </p:nvSpPr>
        <p:spPr>
          <a:xfrm>
            <a:off x="789379" y="3397894"/>
            <a:ext cx="3234300" cy="18318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100"/>
              <a:buFont typeface="Arial"/>
              <a:buNone/>
            </a:pPr>
            <a:r>
              <a:rPr lang="en-US">
                <a:solidFill>
                  <a:srgbClr val="F8FAFC"/>
                </a:solidFill>
                <a:latin typeface="Lato"/>
                <a:ea typeface="Lato"/>
                <a:cs typeface="Lato"/>
                <a:sym typeface="Lato"/>
              </a:rPr>
              <a:t>Proactive predictions reduce environmental losses by enabling faster response before uncontrolled spread.</a:t>
            </a:r>
            <a:endParaRPr>
              <a:solidFill>
                <a:srgbClr val="F8FAFC"/>
              </a:solidFill>
              <a:latin typeface="Lato"/>
              <a:ea typeface="Lato"/>
              <a:cs typeface="Lato"/>
              <a:sym typeface="Lato"/>
            </a:endParaRPr>
          </a:p>
          <a:p>
            <a:pPr indent="0" lvl="0" marL="0" marR="0" rtl="0" algn="l">
              <a:lnSpc>
                <a:spcPct val="150000"/>
              </a:lnSpc>
              <a:spcBef>
                <a:spcPts val="0"/>
              </a:spcBef>
              <a:spcAft>
                <a:spcPts val="0"/>
              </a:spcAft>
              <a:buNone/>
            </a:pPr>
            <a:r>
              <a:rPr lang="en-US">
                <a:solidFill>
                  <a:srgbClr val="F8FAFC"/>
                </a:solidFill>
                <a:latin typeface="Lato"/>
                <a:ea typeface="Lato"/>
                <a:cs typeface="Lato"/>
                <a:sym typeface="Lato"/>
              </a:rPr>
              <a:t>Fewer hectares burned → lower CO₂ emissions, preserved ecosystems, and reduced long-term regeneration costs.</a:t>
            </a:r>
            <a:endParaRPr>
              <a:solidFill>
                <a:srgbClr val="F8FAFC"/>
              </a:solidFill>
              <a:latin typeface="Lato"/>
              <a:ea typeface="Lato"/>
              <a:cs typeface="Lato"/>
              <a:sym typeface="Lato"/>
            </a:endParaRPr>
          </a:p>
        </p:txBody>
      </p:sp>
      <p:sp>
        <p:nvSpPr>
          <p:cNvPr id="115" name="Google Shape;115;p15"/>
          <p:cNvSpPr txBox="1"/>
          <p:nvPr/>
        </p:nvSpPr>
        <p:spPr>
          <a:xfrm>
            <a:off x="5765713" y="2115632"/>
            <a:ext cx="2175600" cy="646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Response Efficiency</a:t>
            </a:r>
            <a:endParaRPr>
              <a:solidFill>
                <a:srgbClr val="F8FAFC"/>
              </a:solidFill>
            </a:endParaRPr>
          </a:p>
        </p:txBody>
      </p:sp>
      <p:sp>
        <p:nvSpPr>
          <p:cNvPr id="116" name="Google Shape;116;p15"/>
          <p:cNvSpPr txBox="1"/>
          <p:nvPr/>
        </p:nvSpPr>
        <p:spPr>
          <a:xfrm>
            <a:off x="4444000" y="3470271"/>
            <a:ext cx="3208500" cy="18318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100"/>
              <a:buFont typeface="Arial"/>
              <a:buNone/>
            </a:pPr>
            <a:r>
              <a:rPr lang="en-US">
                <a:solidFill>
                  <a:srgbClr val="F8FAFC"/>
                </a:solidFill>
                <a:latin typeface="Lato"/>
                <a:ea typeface="Lato"/>
                <a:cs typeface="Lato"/>
                <a:sym typeface="Lato"/>
              </a:rPr>
              <a:t>Early burned-area forecasts help Civil Protection allocate firefighting teams, helicopters, and ground units efficiently.</a:t>
            </a:r>
            <a:endParaRPr>
              <a:solidFill>
                <a:srgbClr val="F8FAFC"/>
              </a:solidFill>
              <a:latin typeface="Lato"/>
              <a:ea typeface="Lato"/>
              <a:cs typeface="Lato"/>
              <a:sym typeface="Lato"/>
            </a:endParaRPr>
          </a:p>
          <a:p>
            <a:pPr indent="0" lvl="0" marL="0" rtl="0" algn="l">
              <a:lnSpc>
                <a:spcPct val="150000"/>
              </a:lnSpc>
              <a:spcBef>
                <a:spcPts val="0"/>
              </a:spcBef>
              <a:spcAft>
                <a:spcPts val="0"/>
              </a:spcAft>
              <a:buSzPts val="1100"/>
              <a:buNone/>
            </a:pPr>
            <a:r>
              <a:rPr lang="en-US">
                <a:solidFill>
                  <a:srgbClr val="F8FAFC"/>
                </a:solidFill>
                <a:latin typeface="Lato"/>
                <a:ea typeface="Lato"/>
                <a:cs typeface="Lato"/>
                <a:sym typeface="Lato"/>
              </a:rPr>
              <a:t>Better situational awareness during the first critical hours improves containment and reduces operational risk.</a:t>
            </a:r>
            <a:endParaRPr>
              <a:solidFill>
                <a:srgbClr val="F8FAFC"/>
              </a:solidFill>
              <a:latin typeface="Lato"/>
              <a:ea typeface="Lato"/>
              <a:cs typeface="Lato"/>
              <a:sym typeface="Lato"/>
            </a:endParaRPr>
          </a:p>
        </p:txBody>
      </p:sp>
      <p:sp>
        <p:nvSpPr>
          <p:cNvPr id="117" name="Google Shape;117;p15"/>
          <p:cNvSpPr txBox="1"/>
          <p:nvPr/>
        </p:nvSpPr>
        <p:spPr>
          <a:xfrm>
            <a:off x="9487263" y="1998573"/>
            <a:ext cx="1935000" cy="646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F8FAFC"/>
                </a:solidFill>
                <a:latin typeface="Poppins"/>
                <a:ea typeface="Poppins"/>
                <a:cs typeface="Poppins"/>
                <a:sym typeface="Poppins"/>
              </a:rPr>
              <a:t>Innovation &amp; Scalability</a:t>
            </a:r>
            <a:endParaRPr>
              <a:solidFill>
                <a:srgbClr val="F8FAFC"/>
              </a:solidFill>
            </a:endParaRPr>
          </a:p>
        </p:txBody>
      </p:sp>
      <p:sp>
        <p:nvSpPr>
          <p:cNvPr id="118" name="Google Shape;118;p15"/>
          <p:cNvSpPr txBox="1"/>
          <p:nvPr/>
        </p:nvSpPr>
        <p:spPr>
          <a:xfrm>
            <a:off x="8135188" y="3236343"/>
            <a:ext cx="3373800" cy="21549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100"/>
              <a:buFont typeface="Arial"/>
              <a:buNone/>
            </a:pPr>
            <a:r>
              <a:rPr lang="en-US">
                <a:solidFill>
                  <a:srgbClr val="F8FAFC"/>
                </a:solidFill>
                <a:latin typeface="Lato"/>
                <a:ea typeface="Lato"/>
                <a:cs typeface="Lato"/>
                <a:sym typeface="Lato"/>
              </a:rPr>
              <a:t>The multimodal AI system generalizes across regions where Sentinel-2, Landsat, DEM, ERA5, and infrastructure layers are available.</a:t>
            </a:r>
            <a:endParaRPr>
              <a:solidFill>
                <a:srgbClr val="F8FAFC"/>
              </a:solidFill>
              <a:latin typeface="Lato"/>
              <a:ea typeface="Lato"/>
              <a:cs typeface="Lato"/>
              <a:sym typeface="Lato"/>
            </a:endParaRPr>
          </a:p>
          <a:p>
            <a:pPr indent="0" lvl="0" marL="0" rtl="0" algn="l">
              <a:lnSpc>
                <a:spcPct val="150000"/>
              </a:lnSpc>
              <a:spcBef>
                <a:spcPts val="0"/>
              </a:spcBef>
              <a:spcAft>
                <a:spcPts val="0"/>
              </a:spcAft>
              <a:buSzPts val="1100"/>
              <a:buNone/>
            </a:pPr>
            <a:r>
              <a:rPr lang="en-US">
                <a:solidFill>
                  <a:srgbClr val="F8FAFC"/>
                </a:solidFill>
                <a:latin typeface="Lato"/>
                <a:ea typeface="Lato"/>
                <a:cs typeface="Lato"/>
                <a:sym typeface="Lato"/>
              </a:rPr>
              <a:t>The framework can be replicated globally, providing a reusable template for data-driven wildfire risk management.</a:t>
            </a:r>
            <a:endParaRPr>
              <a:solidFill>
                <a:srgbClr val="F8FAFC"/>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22" name="Shape 122"/>
        <p:cNvGrpSpPr/>
        <p:nvPr/>
      </p:nvGrpSpPr>
      <p:grpSpPr>
        <a:xfrm>
          <a:off x="0" y="0"/>
          <a:ext cx="0" cy="0"/>
          <a:chOff x="0" y="0"/>
          <a:chExt cx="0" cy="0"/>
        </a:xfrm>
      </p:grpSpPr>
      <p:sp>
        <p:nvSpPr>
          <p:cNvPr id="123" name="Google Shape;123;p16"/>
          <p:cNvSpPr/>
          <p:nvPr/>
        </p:nvSpPr>
        <p:spPr>
          <a:xfrm>
            <a:off x="693600" y="4673713"/>
            <a:ext cx="11019300" cy="1371600"/>
          </a:xfrm>
          <a:prstGeom prst="roundRect">
            <a:avLst>
              <a:gd fmla="val 16667" name="adj"/>
            </a:avLst>
          </a:prstGeom>
          <a:solidFill>
            <a:srgbClr val="111E2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4" name="Google Shape;124;p16"/>
          <p:cNvSpPr/>
          <p:nvPr/>
        </p:nvSpPr>
        <p:spPr>
          <a:xfrm>
            <a:off x="693600" y="3070713"/>
            <a:ext cx="11019300" cy="1371600"/>
          </a:xfrm>
          <a:prstGeom prst="roundRect">
            <a:avLst>
              <a:gd fmla="val 16667" name="adj"/>
            </a:avLst>
          </a:prstGeom>
          <a:solidFill>
            <a:srgbClr val="111E2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5" name="Google Shape;125;p16"/>
          <p:cNvSpPr/>
          <p:nvPr/>
        </p:nvSpPr>
        <p:spPr>
          <a:xfrm>
            <a:off x="595325" y="1407100"/>
            <a:ext cx="11019300" cy="1371600"/>
          </a:xfrm>
          <a:prstGeom prst="roundRect">
            <a:avLst>
              <a:gd fmla="val 16667" name="adj"/>
            </a:avLst>
          </a:prstGeom>
          <a:solidFill>
            <a:srgbClr val="111E2E"/>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26" name="Google Shape;126;p16"/>
          <p:cNvSpPr txBox="1"/>
          <p:nvPr/>
        </p:nvSpPr>
        <p:spPr>
          <a:xfrm>
            <a:off x="810600" y="477875"/>
            <a:ext cx="11381400" cy="4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150">
                <a:solidFill>
                  <a:srgbClr val="F8FAFC"/>
                </a:solidFill>
                <a:latin typeface="Inter"/>
                <a:ea typeface="Inter"/>
                <a:cs typeface="Inter"/>
                <a:sym typeface="Inter"/>
              </a:rPr>
              <a:t>Research</a:t>
            </a:r>
            <a:r>
              <a:rPr b="1" lang="en-US" sz="3150">
                <a:solidFill>
                  <a:srgbClr val="F8FAFC"/>
                </a:solidFill>
                <a:latin typeface="Inter"/>
                <a:ea typeface="Inter"/>
                <a:cs typeface="Inter"/>
                <a:sym typeface="Inter"/>
              </a:rPr>
              <a:t> Questions</a:t>
            </a:r>
            <a:endParaRPr/>
          </a:p>
        </p:txBody>
      </p:sp>
      <p:sp>
        <p:nvSpPr>
          <p:cNvPr id="127" name="Google Shape;127;p16"/>
          <p:cNvSpPr/>
          <p:nvPr/>
        </p:nvSpPr>
        <p:spPr>
          <a:xfrm>
            <a:off x="581025" y="501123"/>
            <a:ext cx="47700" cy="485700"/>
          </a:xfrm>
          <a:prstGeom prst="rect">
            <a:avLst/>
          </a:prstGeom>
          <a:solidFill>
            <a:srgbClr val="FF57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 name="Google Shape;128;p16"/>
          <p:cNvSpPr txBox="1"/>
          <p:nvPr/>
        </p:nvSpPr>
        <p:spPr>
          <a:xfrm>
            <a:off x="2637013" y="1759834"/>
            <a:ext cx="8733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F8FAFC"/>
                </a:solidFill>
                <a:latin typeface="Inter"/>
                <a:ea typeface="Inter"/>
                <a:cs typeface="Inter"/>
                <a:sym typeface="Inter"/>
              </a:rPr>
              <a:t>Can pre-fire multimodal data predict final burned area with sufficient accuracy to support early emergency decisions? </a:t>
            </a:r>
            <a:endParaRPr b="1" sz="1500">
              <a:solidFill>
                <a:srgbClr val="F8FAFC"/>
              </a:solidFill>
              <a:latin typeface="Inter"/>
              <a:ea typeface="Inter"/>
              <a:cs typeface="Inter"/>
              <a:sym typeface="Inter"/>
            </a:endParaRPr>
          </a:p>
        </p:txBody>
      </p:sp>
      <p:pic>
        <p:nvPicPr>
          <p:cNvPr id="129" name="Google Shape;129;p16"/>
          <p:cNvPicPr preferRelativeResize="0"/>
          <p:nvPr/>
        </p:nvPicPr>
        <p:blipFill rotWithShape="1">
          <a:blip r:embed="rId3">
            <a:alphaModFix/>
          </a:blip>
          <a:srcRect b="6069" l="0" r="0" t="-6069"/>
          <a:stretch/>
        </p:blipFill>
        <p:spPr>
          <a:xfrm>
            <a:off x="870750" y="1542697"/>
            <a:ext cx="1323975" cy="990600"/>
          </a:xfrm>
          <a:prstGeom prst="rect">
            <a:avLst/>
          </a:prstGeom>
          <a:noFill/>
          <a:ln>
            <a:noFill/>
          </a:ln>
        </p:spPr>
      </p:pic>
      <p:sp>
        <p:nvSpPr>
          <p:cNvPr id="130" name="Google Shape;130;p16"/>
          <p:cNvSpPr txBox="1"/>
          <p:nvPr/>
        </p:nvSpPr>
        <p:spPr>
          <a:xfrm>
            <a:off x="2692300" y="3518475"/>
            <a:ext cx="78372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F8FAFC"/>
                </a:solidFill>
              </a:rPr>
              <a:t>Does auxiliary-task learning improve spatial segmentation performance compared to single-task models?</a:t>
            </a:r>
            <a:endParaRPr b="1" sz="1500">
              <a:solidFill>
                <a:srgbClr val="F8FAFC"/>
              </a:solidFill>
            </a:endParaRPr>
          </a:p>
        </p:txBody>
      </p:sp>
      <p:pic>
        <p:nvPicPr>
          <p:cNvPr id="131" name="Google Shape;131;p16"/>
          <p:cNvPicPr preferRelativeResize="0"/>
          <p:nvPr/>
        </p:nvPicPr>
        <p:blipFill>
          <a:blip r:embed="rId4">
            <a:alphaModFix/>
          </a:blip>
          <a:stretch>
            <a:fillRect/>
          </a:stretch>
        </p:blipFill>
        <p:spPr>
          <a:xfrm>
            <a:off x="950975" y="3203470"/>
            <a:ext cx="1323975" cy="990600"/>
          </a:xfrm>
          <a:prstGeom prst="rect">
            <a:avLst/>
          </a:prstGeom>
          <a:noFill/>
          <a:ln>
            <a:noFill/>
          </a:ln>
        </p:spPr>
      </p:pic>
      <p:sp>
        <p:nvSpPr>
          <p:cNvPr id="132" name="Google Shape;132;p16"/>
          <p:cNvSpPr txBox="1"/>
          <p:nvPr/>
        </p:nvSpPr>
        <p:spPr>
          <a:xfrm>
            <a:off x="2692300" y="5128348"/>
            <a:ext cx="84576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500">
                <a:solidFill>
                  <a:srgbClr val="F8FAFC"/>
                </a:solidFill>
              </a:rPr>
              <a:t>What is the relative contribution of satellite, meteorological, and topographical modalities?</a:t>
            </a:r>
            <a:endParaRPr b="1" sz="1500">
              <a:solidFill>
                <a:srgbClr val="F8FAFC"/>
              </a:solidFill>
            </a:endParaRPr>
          </a:p>
        </p:txBody>
      </p:sp>
      <p:pic>
        <p:nvPicPr>
          <p:cNvPr id="133" name="Google Shape;133;p16"/>
          <p:cNvPicPr preferRelativeResize="0"/>
          <p:nvPr/>
        </p:nvPicPr>
        <p:blipFill>
          <a:blip r:embed="rId5">
            <a:alphaModFix/>
          </a:blip>
          <a:stretch>
            <a:fillRect/>
          </a:stretch>
        </p:blipFill>
        <p:spPr>
          <a:xfrm>
            <a:off x="904100" y="4864219"/>
            <a:ext cx="1257300" cy="990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sp>
        <p:nvSpPr>
          <p:cNvPr id="138" name="Google Shape;138;p17"/>
          <p:cNvSpPr txBox="1"/>
          <p:nvPr/>
        </p:nvSpPr>
        <p:spPr>
          <a:xfrm>
            <a:off x="730775" y="118975"/>
            <a:ext cx="11381400" cy="5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150">
                <a:solidFill>
                  <a:srgbClr val="F97316"/>
                </a:solidFill>
                <a:latin typeface="Inter"/>
                <a:ea typeface="Inter"/>
                <a:cs typeface="Inter"/>
                <a:sym typeface="Inter"/>
              </a:rPr>
              <a:t>Pre-Fire Data:</a:t>
            </a:r>
            <a:r>
              <a:rPr b="1" lang="en-US" sz="3150">
                <a:solidFill>
                  <a:srgbClr val="F8FAFC"/>
                </a:solidFill>
                <a:latin typeface="Inter"/>
                <a:ea typeface="Inter"/>
                <a:cs typeface="Inter"/>
                <a:sym typeface="Inter"/>
              </a:rPr>
              <a:t> </a:t>
            </a:r>
            <a:endParaRPr b="1" sz="3150">
              <a:solidFill>
                <a:srgbClr val="F8FAFC"/>
              </a:solidFill>
              <a:latin typeface="Inter"/>
              <a:ea typeface="Inter"/>
              <a:cs typeface="Inter"/>
              <a:sym typeface="Inter"/>
            </a:endParaRPr>
          </a:p>
          <a:p>
            <a:pPr indent="0" lvl="0" marL="0" marR="0" rtl="0" algn="l">
              <a:spcBef>
                <a:spcPts val="0"/>
              </a:spcBef>
              <a:spcAft>
                <a:spcPts val="0"/>
              </a:spcAft>
              <a:buNone/>
            </a:pPr>
            <a:r>
              <a:t/>
            </a:r>
            <a:endParaRPr sz="600"/>
          </a:p>
        </p:txBody>
      </p:sp>
      <p:sp>
        <p:nvSpPr>
          <p:cNvPr id="139" name="Google Shape;139;p17"/>
          <p:cNvSpPr/>
          <p:nvPr/>
        </p:nvSpPr>
        <p:spPr>
          <a:xfrm>
            <a:off x="591150" y="102612"/>
            <a:ext cx="47700" cy="485700"/>
          </a:xfrm>
          <a:prstGeom prst="rect">
            <a:avLst/>
          </a:prstGeom>
          <a:solidFill>
            <a:srgbClr val="FF572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17"/>
          <p:cNvSpPr txBox="1"/>
          <p:nvPr/>
        </p:nvSpPr>
        <p:spPr>
          <a:xfrm>
            <a:off x="730774" y="4672150"/>
            <a:ext cx="4974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F8FAFC"/>
              </a:solidFill>
              <a:latin typeface="Inter"/>
              <a:ea typeface="Inter"/>
              <a:cs typeface="Inter"/>
              <a:sym typeface="Inter"/>
            </a:endParaRPr>
          </a:p>
        </p:txBody>
      </p:sp>
      <p:pic>
        <p:nvPicPr>
          <p:cNvPr id="141" name="Google Shape;141;p17"/>
          <p:cNvPicPr preferRelativeResize="0"/>
          <p:nvPr/>
        </p:nvPicPr>
        <p:blipFill>
          <a:blip r:embed="rId4">
            <a:alphaModFix/>
          </a:blip>
          <a:stretch>
            <a:fillRect/>
          </a:stretch>
        </p:blipFill>
        <p:spPr>
          <a:xfrm>
            <a:off x="1230258" y="1954920"/>
            <a:ext cx="3657600" cy="2468880"/>
          </a:xfrm>
          <a:prstGeom prst="rect">
            <a:avLst/>
          </a:prstGeom>
          <a:noFill/>
          <a:ln>
            <a:noFill/>
          </a:ln>
        </p:spPr>
      </p:pic>
      <p:sp>
        <p:nvSpPr>
          <p:cNvPr id="142" name="Google Shape;142;p17"/>
          <p:cNvSpPr txBox="1"/>
          <p:nvPr/>
        </p:nvSpPr>
        <p:spPr>
          <a:xfrm>
            <a:off x="1030775" y="5518500"/>
            <a:ext cx="489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F97316"/>
                </a:solidFill>
                <a:latin typeface="Inter SemiBold"/>
                <a:ea typeface="Inter SemiBold"/>
                <a:cs typeface="Inter SemiBold"/>
                <a:sym typeface="Inter SemiBold"/>
              </a:rPr>
              <a:t>Landsat  Imagery:</a:t>
            </a:r>
            <a:r>
              <a:rPr lang="en-US">
                <a:solidFill>
                  <a:srgbClr val="F97316"/>
                </a:solidFill>
                <a:latin typeface="Inter"/>
                <a:ea typeface="Inter"/>
                <a:cs typeface="Inter"/>
                <a:sym typeface="Inter"/>
              </a:rPr>
              <a:t> </a:t>
            </a:r>
            <a:r>
              <a:rPr lang="en-US">
                <a:solidFill>
                  <a:srgbClr val="F8FAFC"/>
                </a:solidFill>
                <a:latin typeface="Inter"/>
                <a:ea typeface="Inter"/>
                <a:cs typeface="Inter"/>
                <a:sym typeface="Inter"/>
              </a:rPr>
              <a:t>Extra </a:t>
            </a:r>
            <a:r>
              <a:rPr lang="en-US">
                <a:solidFill>
                  <a:srgbClr val="F8FAFC"/>
                </a:solidFill>
                <a:latin typeface="Inter"/>
                <a:ea typeface="Inter"/>
                <a:cs typeface="Inter"/>
                <a:sym typeface="Inter"/>
              </a:rPr>
              <a:t>spectral </a:t>
            </a:r>
            <a:r>
              <a:rPr lang="en-US">
                <a:solidFill>
                  <a:srgbClr val="F8FAFC"/>
                </a:solidFill>
                <a:latin typeface="Inter"/>
                <a:ea typeface="Inter"/>
                <a:cs typeface="Inter"/>
                <a:sym typeface="Inter"/>
              </a:rPr>
              <a:t>info (SWIR/NIR)</a:t>
            </a:r>
            <a:endParaRPr>
              <a:solidFill>
                <a:srgbClr val="F8FAFC"/>
              </a:solidFill>
              <a:latin typeface="Inter"/>
              <a:ea typeface="Inter"/>
              <a:cs typeface="Inter"/>
              <a:sym typeface="Inter"/>
            </a:endParaRPr>
          </a:p>
          <a:p>
            <a:pPr indent="-317500" lvl="0" marL="457200" rtl="0" algn="l">
              <a:spcBef>
                <a:spcPts val="0"/>
              </a:spcBef>
              <a:spcAft>
                <a:spcPts val="0"/>
              </a:spcAft>
              <a:buClr>
                <a:srgbClr val="F8FAFC"/>
              </a:buClr>
              <a:buSzPts val="1400"/>
              <a:buFont typeface="Inter"/>
              <a:buChar char="●"/>
            </a:pPr>
            <a:r>
              <a:rPr lang="en-US">
                <a:solidFill>
                  <a:srgbClr val="F8FAFC"/>
                </a:solidFill>
                <a:latin typeface="Inter"/>
                <a:ea typeface="Inter"/>
                <a:cs typeface="Inter"/>
                <a:sym typeface="Inter"/>
              </a:rPr>
              <a:t>Sensitive to vegetation moisture and fuel dryness.</a:t>
            </a:r>
            <a:endParaRPr>
              <a:solidFill>
                <a:srgbClr val="F8FAFC"/>
              </a:solidFill>
              <a:latin typeface="Inter"/>
              <a:ea typeface="Inter"/>
              <a:cs typeface="Inter"/>
              <a:sym typeface="Inter"/>
            </a:endParaRPr>
          </a:p>
          <a:p>
            <a:pPr indent="-317500" lvl="0" marL="457200" rtl="0" algn="l">
              <a:spcBef>
                <a:spcPts val="0"/>
              </a:spcBef>
              <a:spcAft>
                <a:spcPts val="0"/>
              </a:spcAft>
              <a:buClr>
                <a:srgbClr val="F8FAFC"/>
              </a:buClr>
              <a:buSzPts val="1400"/>
              <a:buFont typeface="Inter"/>
              <a:buChar char="●"/>
            </a:pPr>
            <a:r>
              <a:rPr lang="en-US">
                <a:solidFill>
                  <a:srgbClr val="F8FAFC"/>
                </a:solidFill>
                <a:latin typeface="Inter"/>
                <a:ea typeface="Inter"/>
                <a:cs typeface="Inter"/>
                <a:sym typeface="Inter"/>
              </a:rPr>
              <a:t>Complementary spectral response for fuel characterization.</a:t>
            </a:r>
            <a:endParaRPr>
              <a:solidFill>
                <a:srgbClr val="F8FAFC"/>
              </a:solidFill>
              <a:latin typeface="Inter"/>
              <a:ea typeface="Inter"/>
              <a:cs typeface="Inter"/>
              <a:sym typeface="Inter"/>
            </a:endParaRPr>
          </a:p>
        </p:txBody>
      </p:sp>
      <p:sp>
        <p:nvSpPr>
          <p:cNvPr id="143" name="Google Shape;143;p17"/>
          <p:cNvSpPr txBox="1"/>
          <p:nvPr/>
        </p:nvSpPr>
        <p:spPr>
          <a:xfrm>
            <a:off x="479825" y="1611298"/>
            <a:ext cx="54765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100">
                <a:solidFill>
                  <a:srgbClr val="5A9DC3"/>
                </a:solidFill>
                <a:latin typeface="Inter"/>
                <a:ea typeface="Inter"/>
                <a:cs typeface="Inter"/>
                <a:sym typeface="Inter"/>
              </a:rPr>
              <a:t>Satellite Imagery </a:t>
            </a:r>
            <a:r>
              <a:rPr lang="en-US" sz="2100">
                <a:solidFill>
                  <a:srgbClr val="F8FAFC"/>
                </a:solidFill>
                <a:latin typeface="Inter SemiBold"/>
                <a:ea typeface="Inter SemiBold"/>
                <a:cs typeface="Inter SemiBold"/>
                <a:sym typeface="Inter SemiBold"/>
              </a:rPr>
              <a:t>(Sentinel-2 &amp; Landsat)</a:t>
            </a:r>
            <a:endParaRPr sz="2100">
              <a:solidFill>
                <a:srgbClr val="F8FAFC"/>
              </a:solidFill>
              <a:latin typeface="Inter SemiBold"/>
              <a:ea typeface="Inter SemiBold"/>
              <a:cs typeface="Inter SemiBold"/>
              <a:sym typeface="Inter SemiBold"/>
            </a:endParaRPr>
          </a:p>
        </p:txBody>
      </p:sp>
      <p:sp>
        <p:nvSpPr>
          <p:cNvPr id="144" name="Google Shape;144;p17"/>
          <p:cNvSpPr txBox="1"/>
          <p:nvPr/>
        </p:nvSpPr>
        <p:spPr>
          <a:xfrm>
            <a:off x="951050" y="4615150"/>
            <a:ext cx="5045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F97316"/>
                </a:solidFill>
                <a:latin typeface="Inter SemiBold"/>
                <a:ea typeface="Inter SemiBold"/>
                <a:cs typeface="Inter SemiBold"/>
                <a:sym typeface="Inter SemiBold"/>
              </a:rPr>
              <a:t>Sentinel-2 Imagery:</a:t>
            </a:r>
            <a:r>
              <a:rPr lang="en-US">
                <a:solidFill>
                  <a:srgbClr val="F97316"/>
                </a:solidFill>
                <a:latin typeface="Inter"/>
                <a:ea typeface="Inter"/>
                <a:cs typeface="Inter"/>
                <a:sym typeface="Inter"/>
              </a:rPr>
              <a:t> </a:t>
            </a:r>
            <a:r>
              <a:rPr lang="en-US">
                <a:solidFill>
                  <a:srgbClr val="F8FAFC"/>
                </a:solidFill>
                <a:latin typeface="Inter"/>
                <a:ea typeface="Inter"/>
                <a:cs typeface="Inter"/>
                <a:sym typeface="Inter"/>
              </a:rPr>
              <a:t>12-band multispectral, 10-20m res.</a:t>
            </a:r>
            <a:endParaRPr>
              <a:solidFill>
                <a:srgbClr val="F8FAFC"/>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US">
                <a:solidFill>
                  <a:srgbClr val="F8FAFC"/>
                </a:solidFill>
                <a:latin typeface="Inter"/>
                <a:ea typeface="Inter"/>
                <a:cs typeface="Inter"/>
                <a:sym typeface="Inter"/>
              </a:rPr>
              <a:t>captures immediate </a:t>
            </a:r>
            <a:r>
              <a:rPr lang="en-US">
                <a:solidFill>
                  <a:srgbClr val="F97316"/>
                </a:solidFill>
                <a:latin typeface="Inter"/>
                <a:ea typeface="Inter"/>
                <a:cs typeface="Inter"/>
                <a:sym typeface="Inter"/>
              </a:rPr>
              <a:t>pre-fire condition</a:t>
            </a:r>
            <a:endParaRPr>
              <a:solidFill>
                <a:srgbClr val="F97316"/>
              </a:solidFill>
              <a:latin typeface="Inter"/>
              <a:ea typeface="Inter"/>
              <a:cs typeface="Inter"/>
              <a:sym typeface="Inter"/>
            </a:endParaRPr>
          </a:p>
          <a:p>
            <a:pPr indent="0" lvl="0" marL="457200" rtl="0" algn="l">
              <a:spcBef>
                <a:spcPts val="0"/>
              </a:spcBef>
              <a:spcAft>
                <a:spcPts val="0"/>
              </a:spcAft>
              <a:buNone/>
            </a:pPr>
            <a:r>
              <a:rPr lang="en-US">
                <a:solidFill>
                  <a:srgbClr val="F8FAFC"/>
                </a:solidFill>
                <a:latin typeface="Inter"/>
                <a:ea typeface="Inter"/>
                <a:cs typeface="Inter"/>
                <a:sym typeface="Inter"/>
              </a:rPr>
              <a:t>(vegetation &amp; fuel availability)</a:t>
            </a:r>
            <a:endParaRPr>
              <a:solidFill>
                <a:srgbClr val="F8FAFC"/>
              </a:solidFill>
              <a:latin typeface="Inter"/>
              <a:ea typeface="Inter"/>
              <a:cs typeface="Inter"/>
              <a:sym typeface="Inter"/>
            </a:endParaRPr>
          </a:p>
        </p:txBody>
      </p:sp>
      <p:sp>
        <p:nvSpPr>
          <p:cNvPr id="145" name="Google Shape;145;p17"/>
          <p:cNvSpPr txBox="1"/>
          <p:nvPr/>
        </p:nvSpPr>
        <p:spPr>
          <a:xfrm>
            <a:off x="6105225" y="1529000"/>
            <a:ext cx="57582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100">
                <a:solidFill>
                  <a:srgbClr val="5A9DC3"/>
                </a:solidFill>
                <a:latin typeface="Inter"/>
                <a:ea typeface="Inter"/>
                <a:cs typeface="Inter"/>
                <a:sym typeface="Inter"/>
              </a:rPr>
              <a:t>Environmental Drivers </a:t>
            </a:r>
            <a:r>
              <a:rPr lang="en-US" sz="2100">
                <a:solidFill>
                  <a:srgbClr val="F8FAFC"/>
                </a:solidFill>
                <a:latin typeface="Inter SemiBold"/>
                <a:ea typeface="Inter SemiBold"/>
                <a:cs typeface="Inter SemiBold"/>
                <a:sym typeface="Inter SemiBold"/>
              </a:rPr>
              <a:t>(DEM &amp; ERA5)</a:t>
            </a:r>
            <a:endParaRPr sz="2100">
              <a:solidFill>
                <a:srgbClr val="F8FAFC"/>
              </a:solidFill>
              <a:latin typeface="Inter SemiBold"/>
              <a:ea typeface="Inter SemiBold"/>
              <a:cs typeface="Inter SemiBold"/>
              <a:sym typeface="Inter SemiBold"/>
            </a:endParaRPr>
          </a:p>
        </p:txBody>
      </p:sp>
      <p:sp>
        <p:nvSpPr>
          <p:cNvPr id="146" name="Google Shape;146;p17"/>
          <p:cNvSpPr txBox="1"/>
          <p:nvPr/>
        </p:nvSpPr>
        <p:spPr>
          <a:xfrm>
            <a:off x="6771356" y="4517719"/>
            <a:ext cx="5476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F97316"/>
                </a:solidFill>
                <a:latin typeface="Inter SemiBold"/>
                <a:ea typeface="Inter SemiBold"/>
                <a:cs typeface="Inter SemiBold"/>
                <a:sym typeface="Inter SemiBold"/>
              </a:rPr>
              <a:t>Topograph (DEM):</a:t>
            </a:r>
            <a:r>
              <a:rPr lang="en-US">
                <a:solidFill>
                  <a:srgbClr val="F97316"/>
                </a:solidFill>
                <a:latin typeface="Inter"/>
                <a:ea typeface="Inter"/>
                <a:cs typeface="Inter"/>
                <a:sym typeface="Inter"/>
              </a:rPr>
              <a:t> </a:t>
            </a:r>
            <a:r>
              <a:rPr lang="en-US">
                <a:solidFill>
                  <a:srgbClr val="F8FAFC"/>
                </a:solidFill>
                <a:latin typeface="Inter"/>
                <a:ea typeface="Inter"/>
                <a:cs typeface="Inter"/>
                <a:sym typeface="Inter"/>
              </a:rPr>
              <a:t>Terrain , slopes and valleys (30m res).</a:t>
            </a:r>
            <a:endParaRPr>
              <a:solidFill>
                <a:srgbClr val="F8FAFC"/>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US">
                <a:solidFill>
                  <a:srgbClr val="F8FAFC"/>
                </a:solidFill>
                <a:latin typeface="Inter"/>
                <a:ea typeface="Inter"/>
                <a:cs typeface="Inter"/>
                <a:sym typeface="Inter"/>
              </a:rPr>
              <a:t>Fire Behaviour is influenced by </a:t>
            </a:r>
            <a:r>
              <a:rPr lang="en-US">
                <a:solidFill>
                  <a:srgbClr val="F97316"/>
                </a:solidFill>
                <a:latin typeface="Inter"/>
                <a:ea typeface="Inter"/>
                <a:cs typeface="Inter"/>
                <a:sym typeface="Inter"/>
              </a:rPr>
              <a:t>slope and elevation.</a:t>
            </a:r>
            <a:endParaRPr>
              <a:solidFill>
                <a:srgbClr val="F8FAFC"/>
              </a:solidFill>
              <a:latin typeface="Inter"/>
              <a:ea typeface="Inter"/>
              <a:cs typeface="Inter"/>
              <a:sym typeface="Inter"/>
            </a:endParaRPr>
          </a:p>
        </p:txBody>
      </p:sp>
      <p:sp>
        <p:nvSpPr>
          <p:cNvPr id="147" name="Google Shape;147;p17"/>
          <p:cNvSpPr txBox="1"/>
          <p:nvPr/>
        </p:nvSpPr>
        <p:spPr>
          <a:xfrm>
            <a:off x="6828506" y="5416044"/>
            <a:ext cx="54765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F97316"/>
                </a:solidFill>
                <a:latin typeface="Inter SemiBold"/>
                <a:ea typeface="Inter SemiBold"/>
                <a:cs typeface="Inter SemiBold"/>
                <a:sym typeface="Inter SemiBold"/>
              </a:rPr>
              <a:t>ERA5 weather:</a:t>
            </a:r>
            <a:r>
              <a:rPr lang="en-US">
                <a:solidFill>
                  <a:srgbClr val="F97316"/>
                </a:solidFill>
                <a:latin typeface="Inter"/>
                <a:ea typeface="Inter"/>
                <a:cs typeface="Inter"/>
                <a:sym typeface="Inter"/>
              </a:rPr>
              <a:t> </a:t>
            </a:r>
            <a:r>
              <a:rPr lang="en-US">
                <a:solidFill>
                  <a:srgbClr val="F8FAFC"/>
                </a:solidFill>
                <a:latin typeface="Inter"/>
                <a:ea typeface="Inter"/>
                <a:cs typeface="Inter"/>
                <a:sym typeface="Inter"/>
              </a:rPr>
              <a:t>Temperature &amp; wind at ignition time.</a:t>
            </a:r>
            <a:endParaRPr>
              <a:solidFill>
                <a:srgbClr val="F8FAFC"/>
              </a:solidFill>
              <a:latin typeface="Inter"/>
              <a:ea typeface="Inter"/>
              <a:cs typeface="Inter"/>
              <a:sym typeface="Inter"/>
            </a:endParaRPr>
          </a:p>
          <a:p>
            <a:pPr indent="-317500" lvl="0" marL="457200" rtl="0" algn="l">
              <a:spcBef>
                <a:spcPts val="0"/>
              </a:spcBef>
              <a:spcAft>
                <a:spcPts val="0"/>
              </a:spcAft>
              <a:buClr>
                <a:srgbClr val="F8FAFC"/>
              </a:buClr>
              <a:buSzPts val="1400"/>
              <a:buFont typeface="Inter"/>
              <a:buChar char="●"/>
            </a:pPr>
            <a:r>
              <a:rPr lang="en-US">
                <a:solidFill>
                  <a:srgbClr val="F8FAFC"/>
                </a:solidFill>
                <a:latin typeface="Inter"/>
                <a:ea typeface="Inter"/>
                <a:cs typeface="Inter"/>
                <a:sym typeface="Inter"/>
              </a:rPr>
              <a:t>Meteorological conditions are key drivers of fire expansion. </a:t>
            </a:r>
            <a:endParaRPr>
              <a:solidFill>
                <a:srgbClr val="F8FAFC"/>
              </a:solidFill>
              <a:latin typeface="Inter"/>
              <a:ea typeface="Inter"/>
              <a:cs typeface="Inter"/>
              <a:sym typeface="Inter"/>
            </a:endParaRPr>
          </a:p>
          <a:p>
            <a:pPr indent="-317500" lvl="0" marL="457200" rtl="0" algn="l">
              <a:spcBef>
                <a:spcPts val="0"/>
              </a:spcBef>
              <a:spcAft>
                <a:spcPts val="0"/>
              </a:spcAft>
              <a:buClr>
                <a:schemeClr val="lt1"/>
              </a:buClr>
              <a:buSzPts val="1400"/>
              <a:buFont typeface="Inter"/>
              <a:buChar char="●"/>
            </a:pPr>
            <a:r>
              <a:rPr lang="en-US">
                <a:solidFill>
                  <a:srgbClr val="F8FAFC"/>
                </a:solidFill>
                <a:latin typeface="Inter"/>
                <a:ea typeface="Inter"/>
                <a:cs typeface="Inter"/>
                <a:sym typeface="Inter"/>
              </a:rPr>
              <a:t>wind affect </a:t>
            </a:r>
            <a:r>
              <a:rPr lang="en-US">
                <a:solidFill>
                  <a:srgbClr val="F97316"/>
                </a:solidFill>
                <a:latin typeface="Inter"/>
                <a:ea typeface="Inter"/>
                <a:cs typeface="Inter"/>
                <a:sym typeface="Inter"/>
              </a:rPr>
              <a:t>direction and speed </a:t>
            </a:r>
            <a:r>
              <a:rPr lang="en-US">
                <a:solidFill>
                  <a:srgbClr val="F8FAFC"/>
                </a:solidFill>
                <a:latin typeface="Inter"/>
                <a:ea typeface="Inter"/>
                <a:cs typeface="Inter"/>
                <a:sym typeface="Inter"/>
              </a:rPr>
              <a:t>of the fire.</a:t>
            </a:r>
            <a:endParaRPr>
              <a:solidFill>
                <a:srgbClr val="F8FAFC"/>
              </a:solidFill>
              <a:latin typeface="Inter"/>
              <a:ea typeface="Inter"/>
              <a:cs typeface="Inter"/>
              <a:sym typeface="Inter"/>
            </a:endParaRPr>
          </a:p>
        </p:txBody>
      </p:sp>
      <p:pic>
        <p:nvPicPr>
          <p:cNvPr id="148" name="Google Shape;148;p17"/>
          <p:cNvPicPr preferRelativeResize="0"/>
          <p:nvPr/>
        </p:nvPicPr>
        <p:blipFill>
          <a:blip r:embed="rId5">
            <a:alphaModFix/>
          </a:blip>
          <a:stretch>
            <a:fillRect/>
          </a:stretch>
        </p:blipFill>
        <p:spPr>
          <a:xfrm>
            <a:off x="536705" y="4517725"/>
            <a:ext cx="419100" cy="504825"/>
          </a:xfrm>
          <a:prstGeom prst="rect">
            <a:avLst/>
          </a:prstGeom>
          <a:noFill/>
          <a:ln>
            <a:noFill/>
          </a:ln>
        </p:spPr>
      </p:pic>
      <p:pic>
        <p:nvPicPr>
          <p:cNvPr id="149" name="Google Shape;149;p17"/>
          <p:cNvPicPr preferRelativeResize="0"/>
          <p:nvPr/>
        </p:nvPicPr>
        <p:blipFill>
          <a:blip r:embed="rId6">
            <a:alphaModFix/>
          </a:blip>
          <a:stretch>
            <a:fillRect/>
          </a:stretch>
        </p:blipFill>
        <p:spPr>
          <a:xfrm>
            <a:off x="541455" y="5446450"/>
            <a:ext cx="409575" cy="457200"/>
          </a:xfrm>
          <a:prstGeom prst="rect">
            <a:avLst/>
          </a:prstGeom>
          <a:noFill/>
          <a:ln>
            <a:noFill/>
          </a:ln>
        </p:spPr>
      </p:pic>
      <p:pic>
        <p:nvPicPr>
          <p:cNvPr id="150" name="Google Shape;150;p17"/>
          <p:cNvPicPr preferRelativeResize="0"/>
          <p:nvPr/>
        </p:nvPicPr>
        <p:blipFill>
          <a:blip r:embed="rId7">
            <a:alphaModFix/>
          </a:blip>
          <a:stretch>
            <a:fillRect/>
          </a:stretch>
        </p:blipFill>
        <p:spPr>
          <a:xfrm>
            <a:off x="5839765" y="3704500"/>
            <a:ext cx="512474" cy="504825"/>
          </a:xfrm>
          <a:prstGeom prst="rect">
            <a:avLst/>
          </a:prstGeom>
          <a:noFill/>
          <a:ln>
            <a:noFill/>
          </a:ln>
        </p:spPr>
      </p:pic>
      <p:pic>
        <p:nvPicPr>
          <p:cNvPr id="151" name="Google Shape;151;p17"/>
          <p:cNvPicPr preferRelativeResize="0"/>
          <p:nvPr/>
        </p:nvPicPr>
        <p:blipFill>
          <a:blip r:embed="rId8">
            <a:alphaModFix/>
          </a:blip>
          <a:stretch>
            <a:fillRect/>
          </a:stretch>
        </p:blipFill>
        <p:spPr>
          <a:xfrm>
            <a:off x="6409400" y="4517725"/>
            <a:ext cx="419100" cy="404891"/>
          </a:xfrm>
          <a:prstGeom prst="rect">
            <a:avLst/>
          </a:prstGeom>
          <a:noFill/>
          <a:ln>
            <a:noFill/>
          </a:ln>
        </p:spPr>
      </p:pic>
      <p:pic>
        <p:nvPicPr>
          <p:cNvPr id="152" name="Google Shape;152;p17"/>
          <p:cNvPicPr preferRelativeResize="0"/>
          <p:nvPr/>
        </p:nvPicPr>
        <p:blipFill>
          <a:blip r:embed="rId9">
            <a:alphaModFix/>
          </a:blip>
          <a:stretch>
            <a:fillRect/>
          </a:stretch>
        </p:blipFill>
        <p:spPr>
          <a:xfrm>
            <a:off x="6352250" y="5349025"/>
            <a:ext cx="533400" cy="495300"/>
          </a:xfrm>
          <a:prstGeom prst="rect">
            <a:avLst/>
          </a:prstGeom>
          <a:noFill/>
          <a:ln>
            <a:noFill/>
          </a:ln>
        </p:spPr>
      </p:pic>
      <p:pic>
        <p:nvPicPr>
          <p:cNvPr id="153" name="Google Shape;153;p17"/>
          <p:cNvPicPr preferRelativeResize="0"/>
          <p:nvPr/>
        </p:nvPicPr>
        <p:blipFill>
          <a:blip r:embed="rId10">
            <a:alphaModFix/>
          </a:blip>
          <a:stretch>
            <a:fillRect/>
          </a:stretch>
        </p:blipFill>
        <p:spPr>
          <a:xfrm>
            <a:off x="7251985" y="1954930"/>
            <a:ext cx="3657600" cy="2468880"/>
          </a:xfrm>
          <a:prstGeom prst="rect">
            <a:avLst/>
          </a:prstGeom>
          <a:noFill/>
          <a:ln>
            <a:noFill/>
          </a:ln>
        </p:spPr>
      </p:pic>
      <p:sp>
        <p:nvSpPr>
          <p:cNvPr id="154" name="Google Shape;154;p17"/>
          <p:cNvSpPr txBox="1"/>
          <p:nvPr/>
        </p:nvSpPr>
        <p:spPr>
          <a:xfrm>
            <a:off x="532475" y="715213"/>
            <a:ext cx="11778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F8FAFC"/>
                </a:solidFill>
                <a:latin typeface="Inter"/>
                <a:ea typeface="Inter"/>
                <a:cs typeface="Inter"/>
                <a:sym typeface="Inter"/>
              </a:rPr>
              <a:t>We will use a catalog of 2152 fires happened in Piemonte region (Italy) in 2012-2024.</a:t>
            </a:r>
            <a:br>
              <a:rPr b="1" lang="en-US" sz="1800">
                <a:solidFill>
                  <a:srgbClr val="F8FAFC"/>
                </a:solidFill>
                <a:latin typeface="Inter"/>
                <a:ea typeface="Inter"/>
                <a:cs typeface="Inter"/>
                <a:sym typeface="Inter"/>
              </a:rPr>
            </a:br>
            <a:r>
              <a:rPr b="1" lang="en-US" sz="1800">
                <a:solidFill>
                  <a:srgbClr val="F8FAFC"/>
                </a:solidFill>
                <a:latin typeface="Inter"/>
                <a:ea typeface="Inter"/>
                <a:cs typeface="Inter"/>
                <a:sym typeface="Inter"/>
              </a:rPr>
              <a:t>For each fire event, the following data are available</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8" name="Shape 158"/>
        <p:cNvGrpSpPr/>
        <p:nvPr/>
      </p:nvGrpSpPr>
      <p:grpSpPr>
        <a:xfrm>
          <a:off x="0" y="0"/>
          <a:ext cx="0" cy="0"/>
          <a:chOff x="0" y="0"/>
          <a:chExt cx="0" cy="0"/>
        </a:xfrm>
      </p:grpSpPr>
      <p:sp>
        <p:nvSpPr>
          <p:cNvPr id="159" name="Google Shape;159;p18"/>
          <p:cNvSpPr txBox="1"/>
          <p:nvPr/>
        </p:nvSpPr>
        <p:spPr>
          <a:xfrm>
            <a:off x="2754860" y="1852475"/>
            <a:ext cx="4974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rgbClr val="F8FAFC"/>
              </a:solidFill>
              <a:latin typeface="Inter"/>
              <a:ea typeface="Inter"/>
              <a:cs typeface="Inter"/>
              <a:sym typeface="Inter"/>
            </a:endParaRPr>
          </a:p>
        </p:txBody>
      </p:sp>
      <p:sp>
        <p:nvSpPr>
          <p:cNvPr id="160" name="Google Shape;160;p18"/>
          <p:cNvSpPr txBox="1"/>
          <p:nvPr/>
        </p:nvSpPr>
        <p:spPr>
          <a:xfrm>
            <a:off x="335625" y="480900"/>
            <a:ext cx="5758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rgbClr val="5A9DC3"/>
                </a:solidFill>
                <a:latin typeface="Inter SemiBold"/>
                <a:ea typeface="Inter SemiBold"/>
                <a:cs typeface="Inter SemiBold"/>
                <a:sym typeface="Inter SemiBold"/>
              </a:rPr>
              <a:t>Ground-Truth Fire Labels</a:t>
            </a:r>
            <a:endParaRPr sz="2100">
              <a:solidFill>
                <a:srgbClr val="5A9DC3"/>
              </a:solidFill>
            </a:endParaRPr>
          </a:p>
          <a:p>
            <a:pPr indent="0" lvl="0" marL="0" rtl="0" algn="l">
              <a:spcBef>
                <a:spcPts val="0"/>
              </a:spcBef>
              <a:spcAft>
                <a:spcPts val="0"/>
              </a:spcAft>
              <a:buNone/>
            </a:pPr>
            <a:r>
              <a:rPr lang="en-US" sz="2100">
                <a:solidFill>
                  <a:srgbClr val="F8FAFC"/>
                </a:solidFill>
                <a:latin typeface="Inter SemiBold"/>
                <a:ea typeface="Inter SemiBold"/>
                <a:cs typeface="Inter SemiBold"/>
                <a:sym typeface="Inter SemiBold"/>
              </a:rPr>
              <a:t>BURNED AREA MASK</a:t>
            </a:r>
            <a:r>
              <a:rPr lang="en-US" sz="2100">
                <a:solidFill>
                  <a:srgbClr val="F8FAFC"/>
                </a:solidFill>
              </a:rPr>
              <a:t> </a:t>
            </a:r>
            <a:r>
              <a:rPr lang="en-US" sz="2100">
                <a:solidFill>
                  <a:srgbClr val="F8FAFC"/>
                </a:solidFill>
                <a:latin typeface="Inter SemiBold"/>
                <a:ea typeface="Inter SemiBold"/>
                <a:cs typeface="Inter SemiBold"/>
                <a:sym typeface="Inter SemiBold"/>
              </a:rPr>
              <a:t>&amp; IGNITION DATA</a:t>
            </a:r>
            <a:endParaRPr sz="2100">
              <a:solidFill>
                <a:srgbClr val="F8FAFC"/>
              </a:solidFill>
              <a:latin typeface="Inter SemiBold"/>
              <a:ea typeface="Inter SemiBold"/>
              <a:cs typeface="Inter SemiBold"/>
              <a:sym typeface="Inter SemiBold"/>
            </a:endParaRPr>
          </a:p>
        </p:txBody>
      </p:sp>
      <p:sp>
        <p:nvSpPr>
          <p:cNvPr id="161" name="Google Shape;161;p18"/>
          <p:cNvSpPr txBox="1"/>
          <p:nvPr/>
        </p:nvSpPr>
        <p:spPr>
          <a:xfrm>
            <a:off x="6171437" y="776617"/>
            <a:ext cx="5758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lt1"/>
                </a:solidFill>
                <a:latin typeface="Inter SemiBold"/>
                <a:ea typeface="Inter SemiBold"/>
                <a:cs typeface="Inter SemiBold"/>
                <a:sym typeface="Inter SemiBold"/>
              </a:rPr>
              <a:t>Land cover and Roads</a:t>
            </a:r>
            <a:r>
              <a:rPr b="1" lang="en-US" sz="1600">
                <a:solidFill>
                  <a:schemeClr val="lt1"/>
                </a:solidFill>
                <a:latin typeface="Inter"/>
                <a:ea typeface="Inter"/>
                <a:cs typeface="Inter"/>
                <a:sym typeface="Inter"/>
              </a:rPr>
              <a:t> </a:t>
            </a:r>
            <a:endParaRPr sz="1600">
              <a:solidFill>
                <a:schemeClr val="lt1"/>
              </a:solidFill>
              <a:latin typeface="Inter SemiBold"/>
              <a:ea typeface="Inter SemiBold"/>
              <a:cs typeface="Inter SemiBold"/>
              <a:sym typeface="Inter SemiBold"/>
            </a:endParaRPr>
          </a:p>
        </p:txBody>
      </p:sp>
      <p:sp>
        <p:nvSpPr>
          <p:cNvPr id="162" name="Google Shape;162;p18"/>
          <p:cNvSpPr txBox="1"/>
          <p:nvPr/>
        </p:nvSpPr>
        <p:spPr>
          <a:xfrm>
            <a:off x="6287453" y="4659150"/>
            <a:ext cx="32985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F97316"/>
                </a:solidFill>
                <a:latin typeface="Inter SemiBold"/>
                <a:ea typeface="Inter SemiBold"/>
                <a:cs typeface="Inter SemiBold"/>
                <a:sym typeface="Inter SemiBold"/>
              </a:rPr>
              <a:t>     Roads:</a:t>
            </a:r>
            <a:r>
              <a:rPr lang="en-US">
                <a:solidFill>
                  <a:srgbClr val="F97316"/>
                </a:solidFill>
                <a:latin typeface="Inter"/>
                <a:ea typeface="Inter"/>
                <a:cs typeface="Inter"/>
                <a:sym typeface="Inter"/>
              </a:rPr>
              <a:t> </a:t>
            </a:r>
            <a:r>
              <a:rPr lang="en-US">
                <a:solidFill>
                  <a:srgbClr val="F8FAFC"/>
                </a:solidFill>
                <a:latin typeface="Inter"/>
                <a:ea typeface="Inter"/>
                <a:cs typeface="Inter"/>
                <a:sym typeface="Inter"/>
              </a:rPr>
              <a:t>Binary road mask (10m resolution).</a:t>
            </a:r>
            <a:endParaRPr>
              <a:solidFill>
                <a:srgbClr val="F8FAFC"/>
              </a:solidFill>
              <a:latin typeface="Inter"/>
              <a:ea typeface="Inter"/>
              <a:cs typeface="Inter"/>
              <a:sym typeface="Inter"/>
            </a:endParaRPr>
          </a:p>
          <a:p>
            <a:pPr indent="0" lvl="0" marL="0" rtl="0" algn="l">
              <a:spcBef>
                <a:spcPts val="0"/>
              </a:spcBef>
              <a:spcAft>
                <a:spcPts val="0"/>
              </a:spcAft>
              <a:buNone/>
            </a:pPr>
            <a:r>
              <a:t/>
            </a:r>
            <a:endParaRPr>
              <a:solidFill>
                <a:srgbClr val="F8FAFC"/>
              </a:solidFill>
              <a:latin typeface="Inter"/>
              <a:ea typeface="Inter"/>
              <a:cs typeface="Inter"/>
              <a:sym typeface="Inter"/>
            </a:endParaRPr>
          </a:p>
          <a:p>
            <a:pPr indent="0" lvl="0" marL="0" rtl="0" algn="l">
              <a:spcBef>
                <a:spcPts val="0"/>
              </a:spcBef>
              <a:spcAft>
                <a:spcPts val="0"/>
              </a:spcAft>
              <a:buNone/>
            </a:pPr>
            <a:r>
              <a:rPr lang="en-US">
                <a:solidFill>
                  <a:srgbClr val="F97316"/>
                </a:solidFill>
                <a:latin typeface="Inter"/>
                <a:ea typeface="Inter"/>
                <a:cs typeface="Inter"/>
                <a:sym typeface="Inter"/>
              </a:rPr>
              <a:t>why needed? </a:t>
            </a:r>
            <a:r>
              <a:rPr lang="en-US">
                <a:solidFill>
                  <a:srgbClr val="F8FAFC"/>
                </a:solidFill>
                <a:latin typeface="Inter"/>
                <a:ea typeface="Inter"/>
                <a:cs typeface="Inter"/>
                <a:sym typeface="Inter"/>
              </a:rPr>
              <a:t>Captures both </a:t>
            </a:r>
            <a:r>
              <a:rPr lang="en-US">
                <a:solidFill>
                  <a:srgbClr val="F97316"/>
                </a:solidFill>
                <a:latin typeface="Inter"/>
                <a:ea typeface="Inter"/>
                <a:cs typeface="Inter"/>
                <a:sym typeface="Inter"/>
              </a:rPr>
              <a:t>human-caused</a:t>
            </a:r>
            <a:r>
              <a:rPr lang="en-US">
                <a:solidFill>
                  <a:srgbClr val="F8FAFC"/>
                </a:solidFill>
                <a:latin typeface="Inter"/>
                <a:ea typeface="Inter"/>
                <a:cs typeface="Inter"/>
                <a:sym typeface="Inter"/>
              </a:rPr>
              <a:t> ignition likelihood and fire break potential.</a:t>
            </a:r>
            <a:endParaRPr>
              <a:solidFill>
                <a:srgbClr val="F8FAFC"/>
              </a:solidFill>
              <a:latin typeface="Inter"/>
              <a:ea typeface="Inter"/>
              <a:cs typeface="Inter"/>
              <a:sym typeface="Inter"/>
            </a:endParaRPr>
          </a:p>
        </p:txBody>
      </p:sp>
      <p:pic>
        <p:nvPicPr>
          <p:cNvPr id="163" name="Google Shape;163;p18"/>
          <p:cNvPicPr preferRelativeResize="0"/>
          <p:nvPr/>
        </p:nvPicPr>
        <p:blipFill>
          <a:blip r:embed="rId4">
            <a:alphaModFix/>
          </a:blip>
          <a:stretch>
            <a:fillRect/>
          </a:stretch>
        </p:blipFill>
        <p:spPr>
          <a:xfrm>
            <a:off x="5839765" y="3704500"/>
            <a:ext cx="512474" cy="504825"/>
          </a:xfrm>
          <a:prstGeom prst="rect">
            <a:avLst/>
          </a:prstGeom>
          <a:noFill/>
          <a:ln>
            <a:noFill/>
          </a:ln>
        </p:spPr>
      </p:pic>
      <p:pic>
        <p:nvPicPr>
          <p:cNvPr id="164" name="Google Shape;164;p18"/>
          <p:cNvPicPr preferRelativeResize="0"/>
          <p:nvPr/>
        </p:nvPicPr>
        <p:blipFill>
          <a:blip r:embed="rId5">
            <a:alphaModFix/>
          </a:blip>
          <a:stretch>
            <a:fillRect/>
          </a:stretch>
        </p:blipFill>
        <p:spPr>
          <a:xfrm>
            <a:off x="98268" y="1570264"/>
            <a:ext cx="2606040" cy="1828800"/>
          </a:xfrm>
          <a:prstGeom prst="rect">
            <a:avLst/>
          </a:prstGeom>
          <a:noFill/>
          <a:ln>
            <a:noFill/>
          </a:ln>
        </p:spPr>
      </p:pic>
      <p:pic>
        <p:nvPicPr>
          <p:cNvPr id="165" name="Google Shape;165;p18"/>
          <p:cNvPicPr preferRelativeResize="0"/>
          <p:nvPr/>
        </p:nvPicPr>
        <p:blipFill>
          <a:blip r:embed="rId6">
            <a:alphaModFix/>
          </a:blip>
          <a:stretch>
            <a:fillRect/>
          </a:stretch>
        </p:blipFill>
        <p:spPr>
          <a:xfrm>
            <a:off x="2632285" y="1890650"/>
            <a:ext cx="342900" cy="323850"/>
          </a:xfrm>
          <a:prstGeom prst="rect">
            <a:avLst/>
          </a:prstGeom>
          <a:noFill/>
          <a:ln>
            <a:noFill/>
          </a:ln>
        </p:spPr>
      </p:pic>
      <p:pic>
        <p:nvPicPr>
          <p:cNvPr id="166" name="Google Shape;166;p18"/>
          <p:cNvPicPr preferRelativeResize="0"/>
          <p:nvPr/>
        </p:nvPicPr>
        <p:blipFill>
          <a:blip r:embed="rId7">
            <a:alphaModFix/>
          </a:blip>
          <a:stretch>
            <a:fillRect/>
          </a:stretch>
        </p:blipFill>
        <p:spPr>
          <a:xfrm>
            <a:off x="9585954" y="4018275"/>
            <a:ext cx="2606040" cy="1828800"/>
          </a:xfrm>
          <a:prstGeom prst="rect">
            <a:avLst/>
          </a:prstGeom>
          <a:noFill/>
          <a:ln>
            <a:noFill/>
          </a:ln>
        </p:spPr>
      </p:pic>
      <p:sp>
        <p:nvSpPr>
          <p:cNvPr id="167" name="Google Shape;167;p18"/>
          <p:cNvSpPr txBox="1"/>
          <p:nvPr/>
        </p:nvSpPr>
        <p:spPr>
          <a:xfrm>
            <a:off x="2707685" y="1852475"/>
            <a:ext cx="34785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F97316"/>
                </a:solidFill>
                <a:latin typeface="Inter SemiBold"/>
                <a:ea typeface="Inter SemiBold"/>
                <a:cs typeface="Inter SemiBold"/>
                <a:sym typeface="Inter SemiBold"/>
              </a:rPr>
              <a:t>    Burned Area Mask:</a:t>
            </a:r>
            <a:r>
              <a:rPr lang="en-US">
                <a:solidFill>
                  <a:srgbClr val="F97316"/>
                </a:solidFill>
                <a:latin typeface="Inter"/>
                <a:ea typeface="Inter"/>
                <a:cs typeface="Inter"/>
                <a:sym typeface="Inter"/>
              </a:rPr>
              <a:t> </a:t>
            </a:r>
            <a:r>
              <a:rPr lang="en-US">
                <a:solidFill>
                  <a:srgbClr val="F8FAFC"/>
                </a:solidFill>
                <a:latin typeface="Inter"/>
                <a:ea typeface="Inter"/>
                <a:cs typeface="Inter"/>
                <a:sym typeface="Inter"/>
              </a:rPr>
              <a:t>Shape of the area that actually burned,</a:t>
            </a:r>
            <a:endParaRPr>
              <a:solidFill>
                <a:srgbClr val="F8FAFC"/>
              </a:solidFill>
              <a:latin typeface="Inter"/>
              <a:ea typeface="Inter"/>
              <a:cs typeface="Inter"/>
              <a:sym typeface="Inter"/>
            </a:endParaRPr>
          </a:p>
          <a:p>
            <a:pPr indent="0" lvl="0" marL="0" rtl="0" algn="l">
              <a:spcBef>
                <a:spcPts val="0"/>
              </a:spcBef>
              <a:spcAft>
                <a:spcPts val="0"/>
              </a:spcAft>
              <a:buNone/>
            </a:pPr>
            <a:r>
              <a:rPr lang="en-US">
                <a:solidFill>
                  <a:srgbClr val="F8FAFC"/>
                </a:solidFill>
                <a:latin typeface="Inter"/>
                <a:ea typeface="Inter"/>
                <a:cs typeface="Inter"/>
                <a:sym typeface="Inter"/>
              </a:rPr>
              <a:t>Binary Segmentation</a:t>
            </a:r>
            <a:br>
              <a:rPr lang="en-US">
                <a:solidFill>
                  <a:srgbClr val="F8FAFC"/>
                </a:solidFill>
                <a:latin typeface="Inter"/>
                <a:ea typeface="Inter"/>
                <a:cs typeface="Inter"/>
                <a:sym typeface="Inter"/>
              </a:rPr>
            </a:br>
            <a:r>
              <a:rPr lang="en-US">
                <a:solidFill>
                  <a:srgbClr val="F8FAFC"/>
                </a:solidFill>
                <a:latin typeface="Inter"/>
                <a:ea typeface="Inter"/>
                <a:cs typeface="Inter"/>
                <a:sym typeface="Inter"/>
              </a:rPr>
              <a:t>(</a:t>
            </a:r>
            <a:r>
              <a:rPr lang="en-US" sz="1100">
                <a:solidFill>
                  <a:schemeClr val="dk1"/>
                </a:solidFill>
              </a:rPr>
              <a:t> </a:t>
            </a:r>
            <a:r>
              <a:rPr lang="en-US" sz="1100">
                <a:solidFill>
                  <a:schemeClr val="lt1"/>
                </a:solidFill>
              </a:rPr>
              <a:t>pixel-level supervision</a:t>
            </a:r>
            <a:r>
              <a:rPr lang="en-US">
                <a:solidFill>
                  <a:srgbClr val="F8FAFC"/>
                </a:solidFill>
                <a:latin typeface="Inter"/>
                <a:ea typeface="Inter"/>
                <a:cs typeface="Inter"/>
                <a:sym typeface="Inter"/>
              </a:rPr>
              <a:t>)</a:t>
            </a:r>
            <a:br>
              <a:rPr lang="en-US">
                <a:solidFill>
                  <a:srgbClr val="F8FAFC"/>
                </a:solidFill>
                <a:latin typeface="Inter"/>
                <a:ea typeface="Inter"/>
                <a:cs typeface="Inter"/>
                <a:sym typeface="Inter"/>
              </a:rPr>
            </a:br>
            <a:endParaRPr>
              <a:solidFill>
                <a:srgbClr val="F8FAFC"/>
              </a:solidFill>
              <a:latin typeface="Inter"/>
              <a:ea typeface="Inter"/>
              <a:cs typeface="Inter"/>
              <a:sym typeface="Inter"/>
            </a:endParaRPr>
          </a:p>
          <a:p>
            <a:pPr indent="0" lvl="0" marL="0" rtl="0" algn="l">
              <a:spcBef>
                <a:spcPts val="0"/>
              </a:spcBef>
              <a:spcAft>
                <a:spcPts val="0"/>
              </a:spcAft>
              <a:buNone/>
            </a:pPr>
            <a:r>
              <a:rPr lang="en-US">
                <a:solidFill>
                  <a:srgbClr val="F8FAFC"/>
                </a:solidFill>
                <a:latin typeface="Inter"/>
                <a:ea typeface="Inter"/>
                <a:cs typeface="Inter"/>
                <a:sym typeface="Inter"/>
              </a:rPr>
              <a:t>(1 = burned, 0 = unburned)</a:t>
            </a:r>
            <a:endParaRPr>
              <a:solidFill>
                <a:srgbClr val="F8FAFC"/>
              </a:solidFill>
              <a:latin typeface="Inter"/>
              <a:ea typeface="Inter"/>
              <a:cs typeface="Inter"/>
              <a:sym typeface="Inter"/>
            </a:endParaRPr>
          </a:p>
          <a:p>
            <a:pPr indent="0" lvl="0" marL="0" rtl="0" algn="l">
              <a:spcBef>
                <a:spcPts val="0"/>
              </a:spcBef>
              <a:spcAft>
                <a:spcPts val="0"/>
              </a:spcAft>
              <a:buNone/>
            </a:pPr>
            <a:r>
              <a:t/>
            </a:r>
            <a:endParaRPr>
              <a:solidFill>
                <a:srgbClr val="F8FAFC"/>
              </a:solidFill>
              <a:latin typeface="Inter"/>
              <a:ea typeface="Inter"/>
              <a:cs typeface="Inter"/>
              <a:sym typeface="Inter"/>
            </a:endParaRPr>
          </a:p>
          <a:p>
            <a:pPr indent="0" lvl="0" marL="0" rtl="0" algn="l">
              <a:spcBef>
                <a:spcPts val="0"/>
              </a:spcBef>
              <a:spcAft>
                <a:spcPts val="0"/>
              </a:spcAft>
              <a:buNone/>
            </a:pPr>
            <a:r>
              <a:rPr lang="en-US">
                <a:solidFill>
                  <a:srgbClr val="F97316"/>
                </a:solidFill>
                <a:latin typeface="Inter"/>
                <a:ea typeface="Inter"/>
                <a:cs typeface="Inter"/>
                <a:sym typeface="Inter"/>
              </a:rPr>
              <a:t>why needed?</a:t>
            </a:r>
            <a:r>
              <a:rPr lang="en-US">
                <a:solidFill>
                  <a:srgbClr val="F8FAFC"/>
                </a:solidFill>
                <a:latin typeface="Inter"/>
                <a:ea typeface="Inter"/>
                <a:cs typeface="Inter"/>
                <a:sym typeface="Inter"/>
              </a:rPr>
              <a:t> Serve as a </a:t>
            </a:r>
            <a:r>
              <a:rPr lang="en-US">
                <a:solidFill>
                  <a:srgbClr val="F97316"/>
                </a:solidFill>
                <a:latin typeface="Inter"/>
                <a:ea typeface="Inter"/>
                <a:cs typeface="Inter"/>
                <a:sym typeface="Inter"/>
              </a:rPr>
              <a:t>target label</a:t>
            </a:r>
            <a:r>
              <a:rPr lang="en-US">
                <a:solidFill>
                  <a:srgbClr val="F8FAFC"/>
                </a:solidFill>
                <a:latin typeface="Inter"/>
                <a:ea typeface="Inter"/>
                <a:cs typeface="Inter"/>
                <a:sym typeface="Inter"/>
              </a:rPr>
              <a:t> for supervised learning segmentation</a:t>
            </a:r>
            <a:endParaRPr>
              <a:solidFill>
                <a:srgbClr val="F8FAFC"/>
              </a:solidFill>
              <a:latin typeface="Inter"/>
              <a:ea typeface="Inter"/>
              <a:cs typeface="Inter"/>
              <a:sym typeface="Inter"/>
            </a:endParaRPr>
          </a:p>
        </p:txBody>
      </p:sp>
      <p:pic>
        <p:nvPicPr>
          <p:cNvPr id="168" name="Google Shape;168;p18"/>
          <p:cNvPicPr preferRelativeResize="0"/>
          <p:nvPr/>
        </p:nvPicPr>
        <p:blipFill>
          <a:blip r:embed="rId8">
            <a:alphaModFix/>
          </a:blip>
          <a:stretch>
            <a:fillRect/>
          </a:stretch>
        </p:blipFill>
        <p:spPr>
          <a:xfrm>
            <a:off x="148800" y="3704492"/>
            <a:ext cx="2606040" cy="1828800"/>
          </a:xfrm>
          <a:prstGeom prst="rect">
            <a:avLst/>
          </a:prstGeom>
          <a:noFill/>
          <a:ln>
            <a:noFill/>
          </a:ln>
        </p:spPr>
      </p:pic>
      <p:sp>
        <p:nvSpPr>
          <p:cNvPr id="169" name="Google Shape;169;p18"/>
          <p:cNvSpPr txBox="1"/>
          <p:nvPr/>
        </p:nvSpPr>
        <p:spPr>
          <a:xfrm>
            <a:off x="2389510" y="4918401"/>
            <a:ext cx="37968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F97316"/>
                </a:solidFill>
                <a:latin typeface="Inter SemiBold"/>
                <a:ea typeface="Inter SemiBold"/>
                <a:cs typeface="Inter SemiBold"/>
                <a:sym typeface="Inter SemiBold"/>
              </a:rPr>
              <a:t>       Ignition Data:</a:t>
            </a:r>
            <a:r>
              <a:rPr lang="en-US">
                <a:solidFill>
                  <a:srgbClr val="F97316"/>
                </a:solidFill>
                <a:latin typeface="Inter"/>
                <a:ea typeface="Inter"/>
                <a:cs typeface="Inter"/>
                <a:sym typeface="Inter"/>
              </a:rPr>
              <a:t> </a:t>
            </a:r>
            <a:r>
              <a:rPr lang="en-US">
                <a:solidFill>
                  <a:srgbClr val="F8FAFC"/>
                </a:solidFill>
                <a:latin typeface="Inter"/>
                <a:ea typeface="Inter"/>
                <a:cs typeface="Inter"/>
                <a:sym typeface="Inter"/>
              </a:rPr>
              <a:t>The exact location where the fire started. (Binary marker), derived from Civil Protection point data.</a:t>
            </a:r>
            <a:endParaRPr>
              <a:solidFill>
                <a:srgbClr val="F8FAFC"/>
              </a:solidFill>
              <a:latin typeface="Inter"/>
              <a:ea typeface="Inter"/>
              <a:cs typeface="Inter"/>
              <a:sym typeface="Inter"/>
            </a:endParaRPr>
          </a:p>
          <a:p>
            <a:pPr indent="0" lvl="0" marL="0" rtl="0" algn="l">
              <a:spcBef>
                <a:spcPts val="0"/>
              </a:spcBef>
              <a:spcAft>
                <a:spcPts val="0"/>
              </a:spcAft>
              <a:buNone/>
            </a:pPr>
            <a:r>
              <a:t/>
            </a:r>
            <a:endParaRPr>
              <a:solidFill>
                <a:srgbClr val="F8FAFC"/>
              </a:solidFill>
              <a:latin typeface="Inter"/>
              <a:ea typeface="Inter"/>
              <a:cs typeface="Inter"/>
              <a:sym typeface="Inter"/>
            </a:endParaRPr>
          </a:p>
          <a:p>
            <a:pPr indent="0" lvl="0" marL="0" rtl="0" algn="l">
              <a:spcBef>
                <a:spcPts val="0"/>
              </a:spcBef>
              <a:spcAft>
                <a:spcPts val="0"/>
              </a:spcAft>
              <a:buNone/>
            </a:pPr>
            <a:r>
              <a:rPr lang="en-US">
                <a:solidFill>
                  <a:srgbClr val="F97316"/>
                </a:solidFill>
                <a:latin typeface="Inter"/>
                <a:ea typeface="Inter"/>
                <a:cs typeface="Inter"/>
                <a:sym typeface="Inter"/>
              </a:rPr>
              <a:t>why needed?</a:t>
            </a:r>
            <a:r>
              <a:rPr lang="en-US">
                <a:solidFill>
                  <a:srgbClr val="F8FAFC"/>
                </a:solidFill>
                <a:latin typeface="Inter"/>
                <a:ea typeface="Inter"/>
                <a:cs typeface="Inter"/>
                <a:sym typeface="Inter"/>
              </a:rPr>
              <a:t> The model learns how the fire is likely to spread from that specific starting position.</a:t>
            </a:r>
            <a:endParaRPr>
              <a:solidFill>
                <a:srgbClr val="F8FAFC"/>
              </a:solidFill>
              <a:latin typeface="Inter"/>
              <a:ea typeface="Inter"/>
              <a:cs typeface="Inter"/>
              <a:sym typeface="Inter"/>
            </a:endParaRPr>
          </a:p>
        </p:txBody>
      </p:sp>
      <p:pic>
        <p:nvPicPr>
          <p:cNvPr id="170" name="Google Shape;170;p18"/>
          <p:cNvPicPr preferRelativeResize="0"/>
          <p:nvPr/>
        </p:nvPicPr>
        <p:blipFill>
          <a:blip r:embed="rId9">
            <a:alphaModFix/>
          </a:blip>
          <a:stretch>
            <a:fillRect/>
          </a:stretch>
        </p:blipFill>
        <p:spPr>
          <a:xfrm>
            <a:off x="2488143" y="4972505"/>
            <a:ext cx="266700" cy="266700"/>
          </a:xfrm>
          <a:prstGeom prst="rect">
            <a:avLst/>
          </a:prstGeom>
          <a:noFill/>
          <a:ln>
            <a:noFill/>
          </a:ln>
        </p:spPr>
      </p:pic>
      <p:pic>
        <p:nvPicPr>
          <p:cNvPr id="171" name="Google Shape;171;p18"/>
          <p:cNvPicPr preferRelativeResize="0"/>
          <p:nvPr/>
        </p:nvPicPr>
        <p:blipFill rotWithShape="1">
          <a:blip r:embed="rId10">
            <a:alphaModFix/>
          </a:blip>
          <a:srcRect b="0" l="0" r="0" t="22178"/>
          <a:stretch/>
        </p:blipFill>
        <p:spPr>
          <a:xfrm>
            <a:off x="9535375" y="1421675"/>
            <a:ext cx="2606040" cy="1828800"/>
          </a:xfrm>
          <a:prstGeom prst="rect">
            <a:avLst/>
          </a:prstGeom>
          <a:noFill/>
          <a:ln>
            <a:noFill/>
          </a:ln>
        </p:spPr>
      </p:pic>
      <p:sp>
        <p:nvSpPr>
          <p:cNvPr id="172" name="Google Shape;172;p18"/>
          <p:cNvSpPr txBox="1"/>
          <p:nvPr/>
        </p:nvSpPr>
        <p:spPr>
          <a:xfrm>
            <a:off x="6236875" y="1637075"/>
            <a:ext cx="37968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solidFill>
                  <a:srgbClr val="F97316"/>
                </a:solidFill>
                <a:latin typeface="Inter SemiBold"/>
                <a:ea typeface="Inter SemiBold"/>
                <a:cs typeface="Inter SemiBold"/>
                <a:sym typeface="Inter SemiBold"/>
              </a:rPr>
              <a:t>     Land cover map:</a:t>
            </a:r>
            <a:r>
              <a:rPr lang="en-US">
                <a:solidFill>
                  <a:srgbClr val="F97316"/>
                </a:solidFill>
                <a:latin typeface="Inter"/>
                <a:ea typeface="Inter"/>
                <a:cs typeface="Inter"/>
                <a:sym typeface="Inter"/>
              </a:rPr>
              <a:t> </a:t>
            </a:r>
            <a:r>
              <a:rPr lang="en-US">
                <a:solidFill>
                  <a:srgbClr val="F8FAFC"/>
                </a:solidFill>
                <a:latin typeface="Inter"/>
                <a:ea typeface="Inter"/>
                <a:cs typeface="Inter"/>
                <a:sym typeface="Inter"/>
              </a:rPr>
              <a:t>Categorical mask of vegetation types (Forest, Shrub, Grassland, etc.).</a:t>
            </a:r>
            <a:endParaRPr>
              <a:solidFill>
                <a:srgbClr val="F8FAFC"/>
              </a:solidFill>
            </a:endParaRPr>
          </a:p>
          <a:p>
            <a:pPr indent="0" lvl="0" marL="0" rtl="0" algn="l">
              <a:spcBef>
                <a:spcPts val="0"/>
              </a:spcBef>
              <a:spcAft>
                <a:spcPts val="0"/>
              </a:spcAft>
              <a:buNone/>
            </a:pPr>
            <a:r>
              <a:t/>
            </a:r>
            <a:endParaRPr>
              <a:solidFill>
                <a:srgbClr val="F8FAFC"/>
              </a:solidFill>
              <a:latin typeface="Inter"/>
              <a:ea typeface="Inter"/>
              <a:cs typeface="Inter"/>
              <a:sym typeface="Inter"/>
            </a:endParaRPr>
          </a:p>
          <a:p>
            <a:pPr indent="0" lvl="0" marL="0" rtl="0" algn="l">
              <a:spcBef>
                <a:spcPts val="0"/>
              </a:spcBef>
              <a:spcAft>
                <a:spcPts val="0"/>
              </a:spcAft>
              <a:buNone/>
            </a:pPr>
            <a:r>
              <a:rPr lang="en-US">
                <a:solidFill>
                  <a:srgbClr val="F97316"/>
                </a:solidFill>
                <a:latin typeface="Inter"/>
                <a:ea typeface="Inter"/>
                <a:cs typeface="Inter"/>
                <a:sym typeface="Inter"/>
              </a:rPr>
              <a:t>why needed?</a:t>
            </a:r>
            <a:r>
              <a:rPr lang="en-US">
                <a:solidFill>
                  <a:srgbClr val="F8FAFC"/>
                </a:solidFill>
                <a:latin typeface="Inter"/>
                <a:ea typeface="Inter"/>
                <a:cs typeface="Inter"/>
                <a:sym typeface="Inter"/>
              </a:rPr>
              <a:t> Critical for estimating </a:t>
            </a:r>
            <a:r>
              <a:rPr lang="en-US">
                <a:solidFill>
                  <a:srgbClr val="F97316"/>
                </a:solidFill>
                <a:latin typeface="Inter"/>
                <a:ea typeface="Inter"/>
                <a:cs typeface="Inter"/>
                <a:sym typeface="Inter"/>
              </a:rPr>
              <a:t>fuel type</a:t>
            </a:r>
            <a:r>
              <a:rPr lang="en-US">
                <a:solidFill>
                  <a:srgbClr val="F8FAFC"/>
                </a:solidFill>
              </a:rPr>
              <a:t>, </a:t>
            </a:r>
            <a:r>
              <a:rPr lang="en-US">
                <a:solidFill>
                  <a:srgbClr val="F8FAFC"/>
                </a:solidFill>
                <a:latin typeface="Inter"/>
                <a:ea typeface="Inter"/>
                <a:cs typeface="Inter"/>
                <a:sym typeface="Inter"/>
              </a:rPr>
              <a:t>Assists the model in differentiating propagation potential based on available fuel.</a:t>
            </a:r>
            <a:endParaRPr>
              <a:solidFill>
                <a:srgbClr val="F8FAFC"/>
              </a:solidFill>
              <a:latin typeface="Inter"/>
              <a:ea typeface="Inter"/>
              <a:cs typeface="Inter"/>
              <a:sym typeface="Inter"/>
            </a:endParaRPr>
          </a:p>
        </p:txBody>
      </p:sp>
      <p:pic>
        <p:nvPicPr>
          <p:cNvPr id="173" name="Google Shape;173;p18"/>
          <p:cNvPicPr preferRelativeResize="0"/>
          <p:nvPr/>
        </p:nvPicPr>
        <p:blipFill>
          <a:blip r:embed="rId11">
            <a:alphaModFix/>
          </a:blip>
          <a:stretch>
            <a:fillRect/>
          </a:stretch>
        </p:blipFill>
        <p:spPr>
          <a:xfrm>
            <a:off x="6287460" y="1699728"/>
            <a:ext cx="228600" cy="247650"/>
          </a:xfrm>
          <a:prstGeom prst="rect">
            <a:avLst/>
          </a:prstGeom>
          <a:noFill/>
          <a:ln>
            <a:noFill/>
          </a:ln>
        </p:spPr>
      </p:pic>
      <p:pic>
        <p:nvPicPr>
          <p:cNvPr id="174" name="Google Shape;174;p18"/>
          <p:cNvPicPr preferRelativeResize="0"/>
          <p:nvPr/>
        </p:nvPicPr>
        <p:blipFill>
          <a:blip r:embed="rId12">
            <a:alphaModFix/>
          </a:blip>
          <a:stretch>
            <a:fillRect/>
          </a:stretch>
        </p:blipFill>
        <p:spPr>
          <a:xfrm>
            <a:off x="6244585" y="4701906"/>
            <a:ext cx="314325" cy="266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descr="complete re generate the slide and include graphics and images by searching deeply in the internet and your own choice and recommend, also match the them of the slide to the whole presentation, " id="179" name="Google Shape;179;p19"/>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descr="I loved the way you created the slide, but the text is a bit too sicentific as I compare it to the whole atmosphere of all slides, make it more understandable for classroom," id="184" name="Google Shape;184;p20"/>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grpSp>
        <p:nvGrpSpPr>
          <p:cNvPr id="189" name="Google Shape;189;p21"/>
          <p:cNvGrpSpPr/>
          <p:nvPr/>
        </p:nvGrpSpPr>
        <p:grpSpPr>
          <a:xfrm>
            <a:off x="-2" y="25639"/>
            <a:ext cx="12337137" cy="6806701"/>
            <a:chOff x="-145127" y="25639"/>
            <a:chExt cx="12337137" cy="6806701"/>
          </a:xfrm>
        </p:grpSpPr>
        <p:pic>
          <p:nvPicPr>
            <p:cNvPr id="190" name="Google Shape;190;p21" title="project-architecture.png"/>
            <p:cNvPicPr preferRelativeResize="0"/>
            <p:nvPr/>
          </p:nvPicPr>
          <p:blipFill>
            <a:blip r:embed="rId3">
              <a:alphaModFix/>
            </a:blip>
            <a:stretch>
              <a:fillRect/>
            </a:stretch>
          </p:blipFill>
          <p:spPr>
            <a:xfrm>
              <a:off x="-145127" y="25639"/>
              <a:ext cx="12337137" cy="6806701"/>
            </a:xfrm>
            <a:prstGeom prst="rect">
              <a:avLst/>
            </a:prstGeom>
            <a:noFill/>
            <a:ln>
              <a:noFill/>
            </a:ln>
          </p:spPr>
        </p:pic>
        <p:sp>
          <p:nvSpPr>
            <p:cNvPr id="191" name="Google Shape;191;p21"/>
            <p:cNvSpPr/>
            <p:nvPr/>
          </p:nvSpPr>
          <p:spPr>
            <a:xfrm>
              <a:off x="7053025" y="4232800"/>
              <a:ext cx="2046000" cy="1675500"/>
            </a:xfrm>
            <a:prstGeom prst="rect">
              <a:avLst/>
            </a:prstGeom>
            <a:solidFill>
              <a:srgbClr val="1424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z</a:t>
              </a:r>
              <a:endParaRPr>
                <a:latin typeface="Calibri"/>
                <a:ea typeface="Calibri"/>
                <a:cs typeface="Calibri"/>
                <a:sym typeface="Calibri"/>
              </a:endParaRPr>
            </a:p>
          </p:txBody>
        </p:sp>
        <p:sp>
          <p:nvSpPr>
            <p:cNvPr id="192" name="Google Shape;192;p21"/>
            <p:cNvSpPr/>
            <p:nvPr/>
          </p:nvSpPr>
          <p:spPr>
            <a:xfrm>
              <a:off x="4348250" y="4669600"/>
              <a:ext cx="554400" cy="1301700"/>
            </a:xfrm>
            <a:prstGeom prst="rect">
              <a:avLst/>
            </a:prstGeom>
            <a:solidFill>
              <a:srgbClr val="12243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93" name="Google Shape;193;p21"/>
            <p:cNvPicPr preferRelativeResize="0"/>
            <p:nvPr/>
          </p:nvPicPr>
          <p:blipFill>
            <a:blip r:embed="rId4">
              <a:alphaModFix/>
            </a:blip>
            <a:stretch>
              <a:fillRect/>
            </a:stretch>
          </p:blipFill>
          <p:spPr>
            <a:xfrm>
              <a:off x="4351897" y="4981495"/>
              <a:ext cx="540000" cy="178100"/>
            </a:xfrm>
            <a:prstGeom prst="rect">
              <a:avLst/>
            </a:prstGeom>
            <a:noFill/>
            <a:ln>
              <a:noFill/>
            </a:ln>
          </p:spPr>
        </p:pic>
        <p:pic>
          <p:nvPicPr>
            <p:cNvPr id="194" name="Google Shape;194;p21"/>
            <p:cNvPicPr preferRelativeResize="0"/>
            <p:nvPr/>
          </p:nvPicPr>
          <p:blipFill>
            <a:blip r:embed="rId5">
              <a:alphaModFix/>
            </a:blip>
            <a:stretch>
              <a:fillRect/>
            </a:stretch>
          </p:blipFill>
          <p:spPr>
            <a:xfrm>
              <a:off x="2418289" y="5796307"/>
              <a:ext cx="285750" cy="590400"/>
            </a:xfrm>
            <a:prstGeom prst="rect">
              <a:avLst/>
            </a:prstGeom>
            <a:noFill/>
            <a:ln>
              <a:noFill/>
            </a:ln>
          </p:spPr>
        </p:pic>
        <p:sp>
          <p:nvSpPr>
            <p:cNvPr id="195" name="Google Shape;195;p21"/>
            <p:cNvSpPr/>
            <p:nvPr/>
          </p:nvSpPr>
          <p:spPr>
            <a:xfrm>
              <a:off x="2686411" y="6323169"/>
              <a:ext cx="2214000" cy="174300"/>
            </a:xfrm>
            <a:prstGeom prst="rect">
              <a:avLst/>
            </a:prstGeom>
            <a:solidFill>
              <a:srgbClr val="14263E"/>
            </a:solidFill>
            <a:ln>
              <a:noFill/>
            </a:ln>
          </p:spPr>
          <p:txBody>
            <a:bodyPr anchorCtr="0" anchor="ctr" bIns="90225" lIns="90225" spcFirstLastPara="1" rIns="90225" wrap="square" tIns="90225">
              <a:noAutofit/>
            </a:bodyPr>
            <a:lstStyle/>
            <a:p>
              <a:pPr indent="0" lvl="0" marL="0" rtl="0" algn="ctr">
                <a:spcBef>
                  <a:spcPts val="0"/>
                </a:spcBef>
                <a:spcAft>
                  <a:spcPts val="0"/>
                </a:spcAft>
                <a:buNone/>
              </a:pPr>
              <a:r>
                <a:t/>
              </a:r>
              <a:endParaRPr sz="1381">
                <a:latin typeface="Calibri"/>
                <a:ea typeface="Calibri"/>
                <a:cs typeface="Calibri"/>
                <a:sym typeface="Calibri"/>
              </a:endParaRPr>
            </a:p>
          </p:txBody>
        </p:sp>
        <p:sp>
          <p:nvSpPr>
            <p:cNvPr id="196" name="Google Shape;196;p21"/>
            <p:cNvSpPr/>
            <p:nvPr/>
          </p:nvSpPr>
          <p:spPr>
            <a:xfrm>
              <a:off x="6856500" y="5919100"/>
              <a:ext cx="1269900" cy="373800"/>
            </a:xfrm>
            <a:prstGeom prst="rect">
              <a:avLst/>
            </a:prstGeom>
            <a:solidFill>
              <a:srgbClr val="14263E"/>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97" name="Google Shape;197;p21"/>
            <p:cNvPicPr preferRelativeResize="0"/>
            <p:nvPr/>
          </p:nvPicPr>
          <p:blipFill>
            <a:blip r:embed="rId4">
              <a:alphaModFix/>
            </a:blip>
            <a:stretch>
              <a:fillRect/>
            </a:stretch>
          </p:blipFill>
          <p:spPr>
            <a:xfrm>
              <a:off x="6856501" y="4681376"/>
              <a:ext cx="540000" cy="178100"/>
            </a:xfrm>
            <a:prstGeom prst="rect">
              <a:avLst/>
            </a:prstGeom>
            <a:noFill/>
            <a:ln>
              <a:noFill/>
            </a:ln>
          </p:spPr>
        </p:pic>
        <p:sp>
          <p:nvSpPr>
            <p:cNvPr id="198" name="Google Shape;198;p21"/>
            <p:cNvSpPr/>
            <p:nvPr/>
          </p:nvSpPr>
          <p:spPr>
            <a:xfrm>
              <a:off x="4903050" y="5593425"/>
              <a:ext cx="3735900" cy="1060200"/>
            </a:xfrm>
            <a:prstGeom prst="roundRect">
              <a:avLst>
                <a:gd fmla="val 16667" name="adj"/>
              </a:avLst>
            </a:prstGeom>
            <a:solidFill>
              <a:srgbClr val="494237"/>
            </a:solidFill>
            <a:ln cap="flat" cmpd="sng" w="9525">
              <a:solidFill>
                <a:srgbClr val="C79F7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99" name="Google Shape;199;p21"/>
            <p:cNvPicPr preferRelativeResize="0"/>
            <p:nvPr/>
          </p:nvPicPr>
          <p:blipFill>
            <a:blip r:embed="rId4">
              <a:alphaModFix/>
            </a:blip>
            <a:stretch>
              <a:fillRect/>
            </a:stretch>
          </p:blipFill>
          <p:spPr>
            <a:xfrm rot="5400000">
              <a:off x="7870762" y="5332668"/>
              <a:ext cx="338300" cy="183225"/>
            </a:xfrm>
            <a:prstGeom prst="rect">
              <a:avLst/>
            </a:prstGeom>
            <a:noFill/>
            <a:ln>
              <a:noFill/>
            </a:ln>
          </p:spPr>
        </p:pic>
        <p:pic>
          <p:nvPicPr>
            <p:cNvPr id="200" name="Google Shape;200;p21"/>
            <p:cNvPicPr preferRelativeResize="0"/>
            <p:nvPr/>
          </p:nvPicPr>
          <p:blipFill>
            <a:blip r:embed="rId6">
              <a:alphaModFix/>
            </a:blip>
            <a:stretch>
              <a:fillRect/>
            </a:stretch>
          </p:blipFill>
          <p:spPr>
            <a:xfrm>
              <a:off x="6784991" y="5681613"/>
              <a:ext cx="581025" cy="485775"/>
            </a:xfrm>
            <a:prstGeom prst="rect">
              <a:avLst/>
            </a:prstGeom>
            <a:noFill/>
            <a:ln>
              <a:noFill/>
            </a:ln>
          </p:spPr>
        </p:pic>
        <p:pic>
          <p:nvPicPr>
            <p:cNvPr id="201" name="Google Shape;201;p21"/>
            <p:cNvPicPr preferRelativeResize="0"/>
            <p:nvPr/>
          </p:nvPicPr>
          <p:blipFill>
            <a:blip r:embed="rId7">
              <a:alphaModFix/>
            </a:blip>
            <a:stretch>
              <a:fillRect/>
            </a:stretch>
          </p:blipFill>
          <p:spPr>
            <a:xfrm>
              <a:off x="6113463" y="6229350"/>
              <a:ext cx="1447800" cy="361950"/>
            </a:xfrm>
            <a:prstGeom prst="rect">
              <a:avLst/>
            </a:prstGeom>
            <a:noFill/>
            <a:ln>
              <a:noFill/>
            </a:ln>
          </p:spPr>
        </p:pic>
        <p:pic>
          <p:nvPicPr>
            <p:cNvPr id="202" name="Google Shape;202;p21"/>
            <p:cNvPicPr preferRelativeResize="0"/>
            <p:nvPr/>
          </p:nvPicPr>
          <p:blipFill>
            <a:blip r:embed="rId8">
              <a:alphaModFix/>
            </a:blip>
            <a:stretch>
              <a:fillRect/>
            </a:stretch>
          </p:blipFill>
          <p:spPr>
            <a:xfrm>
              <a:off x="7372044" y="4091689"/>
              <a:ext cx="1266825" cy="1181100"/>
            </a:xfrm>
            <a:prstGeom prst="rect">
              <a:avLst/>
            </a:prstGeom>
            <a:noFill/>
            <a:ln>
              <a:noFill/>
            </a:ln>
          </p:spPr>
        </p:pic>
        <p:pic>
          <p:nvPicPr>
            <p:cNvPr id="203" name="Google Shape;203;p21"/>
            <p:cNvPicPr preferRelativeResize="0"/>
            <p:nvPr/>
          </p:nvPicPr>
          <p:blipFill>
            <a:blip r:embed="rId4">
              <a:alphaModFix/>
            </a:blip>
            <a:stretch>
              <a:fillRect/>
            </a:stretch>
          </p:blipFill>
          <p:spPr>
            <a:xfrm>
              <a:off x="8639350" y="5681625"/>
              <a:ext cx="528475" cy="174300"/>
            </a:xfrm>
            <a:prstGeom prst="rect">
              <a:avLst/>
            </a:prstGeom>
            <a:noFill/>
            <a:ln>
              <a:noFill/>
            </a:ln>
          </p:spPr>
        </p:pic>
        <p:pic>
          <p:nvPicPr>
            <p:cNvPr id="204" name="Google Shape;204;p21"/>
            <p:cNvPicPr preferRelativeResize="0"/>
            <p:nvPr/>
          </p:nvPicPr>
          <p:blipFill>
            <a:blip r:embed="rId9">
              <a:alphaModFix/>
            </a:blip>
            <a:stretch>
              <a:fillRect/>
            </a:stretch>
          </p:blipFill>
          <p:spPr>
            <a:xfrm>
              <a:off x="6275469" y="5657761"/>
              <a:ext cx="581025" cy="533497"/>
            </a:xfrm>
            <a:prstGeom prst="rect">
              <a:avLst/>
            </a:prstGeom>
            <a:noFill/>
            <a:ln>
              <a:noFill/>
            </a:ln>
          </p:spPr>
        </p:pic>
        <p:sp>
          <p:nvSpPr>
            <p:cNvPr id="205" name="Google Shape;205;p21"/>
            <p:cNvSpPr/>
            <p:nvPr/>
          </p:nvSpPr>
          <p:spPr>
            <a:xfrm>
              <a:off x="3835072" y="3712633"/>
              <a:ext cx="3060900" cy="178200"/>
            </a:xfrm>
            <a:prstGeom prst="roundRect">
              <a:avLst>
                <a:gd fmla="val 16667" name="adj"/>
              </a:avLst>
            </a:prstGeom>
            <a:solidFill>
              <a:srgbClr val="924B0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a:solidFill>
                    <a:schemeClr val="lt1"/>
                  </a:solidFill>
                  <a:latin typeface="Calibri"/>
                  <a:ea typeface="Calibri"/>
                  <a:cs typeface="Calibri"/>
                  <a:sym typeface="Calibri"/>
                </a:rPr>
                <a:t>Multi-modal Feature Pyramid Network</a:t>
              </a:r>
              <a:endParaRPr>
                <a:solidFill>
                  <a:schemeClr val="lt1"/>
                </a:solidFill>
                <a:latin typeface="Calibri"/>
                <a:ea typeface="Calibri"/>
                <a:cs typeface="Calibri"/>
                <a:sym typeface="Calibri"/>
              </a:endParaRPr>
            </a:p>
          </p:txBody>
        </p:sp>
        <p:sp>
          <p:nvSpPr>
            <p:cNvPr id="206" name="Google Shape;206;p21"/>
            <p:cNvSpPr txBox="1"/>
            <p:nvPr/>
          </p:nvSpPr>
          <p:spPr>
            <a:xfrm>
              <a:off x="4097087" y="4650649"/>
              <a:ext cx="1026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900">
                  <a:solidFill>
                    <a:schemeClr val="lt1"/>
                  </a:solidFill>
                  <a:latin typeface="Calibri"/>
                  <a:ea typeface="Calibri"/>
                  <a:cs typeface="Calibri"/>
                  <a:sym typeface="Calibri"/>
                </a:rPr>
                <a:t>Sentinel</a:t>
              </a:r>
              <a:r>
                <a:rPr lang="en-US" sz="900">
                  <a:solidFill>
                    <a:schemeClr val="lt1"/>
                  </a:solidFill>
                  <a:latin typeface="Calibri"/>
                  <a:ea typeface="Calibri"/>
                  <a:cs typeface="Calibri"/>
                  <a:sym typeface="Calibri"/>
                </a:rPr>
                <a:t>-2</a:t>
              </a:r>
              <a:br>
                <a:rPr lang="en-US" sz="900">
                  <a:solidFill>
                    <a:schemeClr val="lt1"/>
                  </a:solidFill>
                  <a:latin typeface="Calibri"/>
                  <a:ea typeface="Calibri"/>
                  <a:cs typeface="Calibri"/>
                  <a:sym typeface="Calibri"/>
                </a:rPr>
              </a:br>
              <a:r>
                <a:rPr lang="en-US" sz="900">
                  <a:solidFill>
                    <a:schemeClr val="lt1"/>
                  </a:solidFill>
                  <a:latin typeface="Calibri"/>
                  <a:ea typeface="Calibri"/>
                  <a:cs typeface="Calibri"/>
                  <a:sym typeface="Calibri"/>
                </a:rPr>
                <a:t>(only)</a:t>
              </a:r>
              <a:endParaRPr sz="900">
                <a:solidFill>
                  <a:schemeClr val="lt1"/>
                </a:solidFill>
                <a:latin typeface="Calibri"/>
                <a:ea typeface="Calibri"/>
                <a:cs typeface="Calibri"/>
                <a:sym typeface="Calibri"/>
              </a:endParaRPr>
            </a:p>
          </p:txBody>
        </p:sp>
        <p:sp>
          <p:nvSpPr>
            <p:cNvPr id="207" name="Google Shape;207;p21"/>
            <p:cNvSpPr txBox="1"/>
            <p:nvPr/>
          </p:nvSpPr>
          <p:spPr>
            <a:xfrm>
              <a:off x="8499089" y="5318889"/>
              <a:ext cx="6840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700">
                  <a:solidFill>
                    <a:schemeClr val="lt1"/>
                  </a:solidFill>
                  <a:latin typeface="Calibri"/>
                  <a:ea typeface="Calibri"/>
                  <a:cs typeface="Calibri"/>
                  <a:sym typeface="Calibri"/>
                </a:rPr>
                <a:t>the fused feature </a:t>
              </a:r>
              <a:br>
                <a:rPr lang="en-US" sz="700">
                  <a:solidFill>
                    <a:schemeClr val="lt1"/>
                  </a:solidFill>
                  <a:latin typeface="Calibri"/>
                  <a:ea typeface="Calibri"/>
                  <a:cs typeface="Calibri"/>
                  <a:sym typeface="Calibri"/>
                </a:rPr>
              </a:br>
              <a:r>
                <a:rPr lang="en-US" sz="700">
                  <a:solidFill>
                    <a:schemeClr val="lt1"/>
                  </a:solidFill>
                  <a:latin typeface="Calibri"/>
                  <a:ea typeface="Calibri"/>
                  <a:cs typeface="Calibri"/>
                  <a:sym typeface="Calibri"/>
                </a:rPr>
                <a:t>pyramid</a:t>
              </a:r>
              <a:endParaRPr sz="700">
                <a:solidFill>
                  <a:schemeClr val="lt1"/>
                </a:solidFill>
                <a:latin typeface="Calibri"/>
                <a:ea typeface="Calibri"/>
                <a:cs typeface="Calibri"/>
                <a:sym typeface="Calibri"/>
              </a:endParaRPr>
            </a:p>
          </p:txBody>
        </p:sp>
        <p:sp>
          <p:nvSpPr>
            <p:cNvPr id="208" name="Google Shape;208;p21"/>
            <p:cNvSpPr/>
            <p:nvPr/>
          </p:nvSpPr>
          <p:spPr>
            <a:xfrm>
              <a:off x="10851792" y="5975366"/>
              <a:ext cx="684000" cy="174300"/>
            </a:xfrm>
            <a:prstGeom prst="rect">
              <a:avLst/>
            </a:prstGeom>
            <a:solidFill>
              <a:srgbClr val="443A3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descr="make it high quality" id="213" name="Google Shape;213;p22"/>
          <p:cNvPicPr preferRelativeResize="0"/>
          <p:nvPr/>
        </p:nvPicPr>
        <p:blipFill>
          <a:blip r:embed="rId3">
            <a:alphaModFix/>
          </a:blip>
          <a:stretch>
            <a:fillRect/>
          </a:stretch>
        </p:blipFill>
        <p:spPr>
          <a:xfrm>
            <a:off x="7" y="0"/>
            <a:ext cx="12320337" cy="6858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pic>
        <p:nvPicPr>
          <p:cNvPr descr="complete re generate the slide and also make beautiful the graph in the slide  by searching deeply in the internet and your own choice and recommend, also match the them of the slide to the whole presentation," id="218" name="Google Shape;218;p23"/>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descr="Make the slide much more better and beautiful and catchy , keep in mind that the slide is scientific   do not change the text of the slide , " id="223" name="Google Shape;223;p24"/>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pic>
        <p:nvPicPr>
          <p:cNvPr descr="make the slide more pretty , some of the texts in the slide are hard for reading, make it more clear and nice and scientific way, make it more clear for reading , also match the whole slide and backgroun with the theme of the whole presentation , do not modify the shape of two graphs because they are sicentific" id="228" name="Google Shape;228;p25"/>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make this slide more beautiful and really catchy in a way that the color theme and fonts match the whole style of presentation , be careful that do not modify or delete the texts and also the size of bar charts, this is a scientific slide , do not forget to include the part that has the sentence &quot;We estimate modality contribution suing inference-time ablation: run the same trained multimodal model, but zero-out one modality at a time the performance drop indicates contribution &quot;" id="233" name="Google Shape;233;p26"/>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descr="image.png" id="238" name="Google Shape;238;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9" name="Google Shape;239;p27"/>
          <p:cNvPicPr preferRelativeResize="0"/>
          <p:nvPr/>
        </p:nvPicPr>
        <p:blipFill rotWithShape="1">
          <a:blip r:embed="rId4">
            <a:alphaModFix/>
          </a:blip>
          <a:srcRect b="0" l="0" r="0" t="0"/>
          <a:stretch/>
        </p:blipFill>
        <p:spPr>
          <a:xfrm>
            <a:off x="676275" y="5172075"/>
            <a:ext cx="5229225" cy="971550"/>
          </a:xfrm>
          <a:prstGeom prst="rect">
            <a:avLst/>
          </a:prstGeom>
          <a:noFill/>
          <a:ln>
            <a:noFill/>
          </a:ln>
        </p:spPr>
      </p:pic>
      <p:pic>
        <p:nvPicPr>
          <p:cNvPr descr="image.png" id="240" name="Google Shape;240;p27"/>
          <p:cNvPicPr preferRelativeResize="0"/>
          <p:nvPr/>
        </p:nvPicPr>
        <p:blipFill rotWithShape="1">
          <a:blip r:embed="rId4">
            <a:alphaModFix/>
          </a:blip>
          <a:srcRect b="0" l="0" r="0" t="0"/>
          <a:stretch/>
        </p:blipFill>
        <p:spPr>
          <a:xfrm>
            <a:off x="6286500" y="5172075"/>
            <a:ext cx="5229225" cy="971550"/>
          </a:xfrm>
          <a:prstGeom prst="rect">
            <a:avLst/>
          </a:prstGeom>
          <a:noFill/>
          <a:ln>
            <a:noFill/>
          </a:ln>
        </p:spPr>
      </p:pic>
      <p:sp>
        <p:nvSpPr>
          <p:cNvPr id="241" name="Google Shape;241;p27"/>
          <p:cNvSpPr txBox="1"/>
          <p:nvPr/>
        </p:nvSpPr>
        <p:spPr>
          <a:xfrm>
            <a:off x="866775" y="485775"/>
            <a:ext cx="11181300" cy="484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150" u="none" cap="none" strike="noStrike">
                <a:solidFill>
                  <a:srgbClr val="38BDF8"/>
                </a:solidFill>
                <a:latin typeface="Rajdhani"/>
                <a:ea typeface="Rajdhani"/>
                <a:cs typeface="Rajdhani"/>
                <a:sym typeface="Rajdhani"/>
              </a:rPr>
              <a:t>QUALITATIVE EVALUATION</a:t>
            </a:r>
            <a:endParaRPr/>
          </a:p>
        </p:txBody>
      </p:sp>
      <p:sp>
        <p:nvSpPr>
          <p:cNvPr id="242" name="Google Shape;242;p27"/>
          <p:cNvSpPr/>
          <p:nvPr/>
        </p:nvSpPr>
        <p:spPr>
          <a:xfrm>
            <a:off x="676275" y="485775"/>
            <a:ext cx="47700" cy="400200"/>
          </a:xfrm>
          <a:prstGeom prst="rect">
            <a:avLst/>
          </a:prstGeom>
          <a:solidFill>
            <a:srgbClr val="F9731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7"/>
          <p:cNvSpPr txBox="1"/>
          <p:nvPr/>
        </p:nvSpPr>
        <p:spPr>
          <a:xfrm>
            <a:off x="734615" y="5314950"/>
            <a:ext cx="51507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E2E8F0"/>
                </a:solidFill>
                <a:latin typeface="Rajdhani"/>
                <a:ea typeface="Rajdhani"/>
                <a:cs typeface="Rajdhani"/>
                <a:sym typeface="Rajdhani"/>
              </a:rPr>
              <a:t>SMALL / DIFFICULT FIRE</a:t>
            </a:r>
            <a:endParaRPr/>
          </a:p>
        </p:txBody>
      </p:sp>
      <p:sp>
        <p:nvSpPr>
          <p:cNvPr id="244" name="Google Shape;244;p27"/>
          <p:cNvSpPr txBox="1"/>
          <p:nvPr/>
        </p:nvSpPr>
        <p:spPr>
          <a:xfrm>
            <a:off x="857250" y="5629275"/>
            <a:ext cx="4905300" cy="2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50" u="none" cap="none" strike="noStrike">
                <a:solidFill>
                  <a:srgbClr val="94A3B8"/>
                </a:solidFill>
                <a:latin typeface="Inter"/>
                <a:ea typeface="Inter"/>
                <a:cs typeface="Inter"/>
                <a:sym typeface="Inter"/>
              </a:rPr>
              <a:t>Model shows conservative behavior, avoiding noise.</a:t>
            </a:r>
            <a:endParaRPr/>
          </a:p>
        </p:txBody>
      </p:sp>
      <p:sp>
        <p:nvSpPr>
          <p:cNvPr id="245" name="Google Shape;245;p27"/>
          <p:cNvSpPr txBox="1"/>
          <p:nvPr/>
        </p:nvSpPr>
        <p:spPr>
          <a:xfrm>
            <a:off x="6344840" y="5314950"/>
            <a:ext cx="51507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650" u="none" cap="none" strike="noStrike">
                <a:solidFill>
                  <a:srgbClr val="E2E8F0"/>
                </a:solidFill>
                <a:latin typeface="Rajdhani"/>
                <a:ea typeface="Rajdhani"/>
                <a:cs typeface="Rajdhani"/>
                <a:sym typeface="Rajdhani"/>
              </a:rPr>
              <a:t>LARGE / WELL-DETECTED FIRE</a:t>
            </a:r>
            <a:endParaRPr/>
          </a:p>
        </p:txBody>
      </p:sp>
      <p:sp>
        <p:nvSpPr>
          <p:cNvPr id="246" name="Google Shape;246;p27"/>
          <p:cNvSpPr txBox="1"/>
          <p:nvPr/>
        </p:nvSpPr>
        <p:spPr>
          <a:xfrm>
            <a:off x="6467475" y="5629275"/>
            <a:ext cx="4905300" cy="2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350" u="none" cap="none" strike="noStrike">
                <a:solidFill>
                  <a:srgbClr val="94A3B8"/>
                </a:solidFill>
                <a:latin typeface="Inter"/>
                <a:ea typeface="Inter"/>
                <a:cs typeface="Inter"/>
                <a:sym typeface="Inter"/>
              </a:rPr>
              <a:t>Large fires are detected with high spatial coherence.</a:t>
            </a:r>
            <a:endParaRPr/>
          </a:p>
        </p:txBody>
      </p:sp>
      <p:pic>
        <p:nvPicPr>
          <p:cNvPr id="247" name="Google Shape;247;p27"/>
          <p:cNvPicPr preferRelativeResize="0"/>
          <p:nvPr/>
        </p:nvPicPr>
        <p:blipFill>
          <a:blip r:embed="rId5">
            <a:alphaModFix/>
          </a:blip>
          <a:stretch>
            <a:fillRect/>
          </a:stretch>
        </p:blipFill>
        <p:spPr>
          <a:xfrm>
            <a:off x="6210905" y="1218275"/>
            <a:ext cx="5716224" cy="3809875"/>
          </a:xfrm>
          <a:prstGeom prst="rect">
            <a:avLst/>
          </a:prstGeom>
          <a:noFill/>
          <a:ln>
            <a:noFill/>
          </a:ln>
        </p:spPr>
      </p:pic>
      <p:pic>
        <p:nvPicPr>
          <p:cNvPr id="248" name="Google Shape;248;p27" title="panel_0.png"/>
          <p:cNvPicPr preferRelativeResize="0"/>
          <p:nvPr/>
        </p:nvPicPr>
        <p:blipFill>
          <a:blip r:embed="rId6">
            <a:alphaModFix/>
          </a:blip>
          <a:stretch>
            <a:fillRect/>
          </a:stretch>
        </p:blipFill>
        <p:spPr>
          <a:xfrm>
            <a:off x="313142" y="1271150"/>
            <a:ext cx="5583299" cy="37213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descr="make the slide more pretty and also match the colors with the theme of slide , but do not modify the photos , and also do not edit the writings , but you can modify the shape , color and size of them " id="253" name="Google Shape;253;p28"/>
          <p:cNvPicPr preferRelativeResize="0"/>
          <p:nvPr/>
        </p:nvPicPr>
        <p:blipFill>
          <a:blip r:embed="rId3">
            <a:alphaModFix/>
          </a:blip>
          <a:stretch>
            <a:fillRect/>
          </a:stretch>
        </p:blipFill>
        <p:spPr>
          <a:xfrm>
            <a:off x="-47625" y="0"/>
            <a:ext cx="12287250" cy="68580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descr="I need you to make this slide much more catchy and beautiful and be look scientific and also consider the theme and color harmony of the whole presentation slides by your suggestion , If needed add graphics and images from yourself or the internet by your choice, but do not change or delete any words from the slide, because it is written with precision , but if you think it is possible to add other sentences , do that but your recommendation" id="258" name="Google Shape;258;p29"/>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pic>
        <p:nvPicPr>
          <p:cNvPr descr="that sounds a bit good, do it again the last task" id="263" name="Google Shape;263;p30"/>
          <p:cNvPicPr preferRelativeResize="0"/>
          <p:nvPr/>
        </p:nvPicPr>
        <p:blipFill>
          <a:blip r:embed="rId3">
            <a:alphaModFix/>
          </a:blip>
          <a:stretch>
            <a:fillRect/>
          </a:stretch>
        </p:blipFill>
        <p:spPr>
          <a:xfrm>
            <a:off x="0" y="26581"/>
            <a:ext cx="12191409" cy="680450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